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65" r:id="rId4"/>
    <p:sldId id="270" r:id="rId5"/>
    <p:sldId id="264" r:id="rId6"/>
    <p:sldId id="295" r:id="rId7"/>
    <p:sldId id="298" r:id="rId8"/>
    <p:sldId id="261" r:id="rId9"/>
    <p:sldId id="299" r:id="rId10"/>
    <p:sldId id="306" r:id="rId11"/>
    <p:sldId id="308" r:id="rId12"/>
    <p:sldId id="310" r:id="rId13"/>
    <p:sldId id="300" r:id="rId14"/>
    <p:sldId id="268" r:id="rId15"/>
    <p:sldId id="302" r:id="rId16"/>
    <p:sldId id="304" r:id="rId17"/>
    <p:sldId id="305" r:id="rId18"/>
    <p:sldId id="311" r:id="rId19"/>
    <p:sldId id="312" r:id="rId20"/>
    <p:sldId id="313" r:id="rId21"/>
    <p:sldId id="303" r:id="rId22"/>
    <p:sldId id="297" r:id="rId23"/>
    <p:sldId id="293" r:id="rId24"/>
    <p:sldId id="256" r:id="rId25"/>
  </p:sldIdLst>
  <p:sldSz cx="18288000" cy="10287000"/>
  <p:notesSz cx="6858000" cy="9144000"/>
  <p:embeddedFontLst>
    <p:embeddedFont>
      <p:font typeface="Cormorant Garamond Bold" panose="020B0604020202020204" charset="0"/>
      <p:regular r:id="rId27"/>
      <p:bold r:id="rId28"/>
    </p:embeddedFont>
    <p:embeddedFont>
      <p:font typeface="Cormorant Garamond Light" panose="020B0604020202020204" charset="0"/>
      <p:regular r:id="rId29"/>
    </p:embeddedFont>
    <p:embeddedFont>
      <p:font typeface="Cormorant Garamond Semi-Bold" panose="020B0604020202020204" charset="0"/>
      <p:regular r:id="rId30"/>
      <p:bold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Lato Bold" panose="020F0502020204030203" charset="0"/>
      <p:regular r:id="rId36"/>
      <p:bold r:id="rId37"/>
      <p:italic r:id="rId38"/>
      <p:boldItalic r:id="rId39"/>
    </p:embeddedFont>
    <p:embeddedFont>
      <p:font typeface="Lato Heavy" panose="020B0604020202020204" charset="0"/>
      <p:regular r:id="rId40"/>
      <p:bold r:id="rId41"/>
      <p:italic r:id="rId42"/>
      <p:boldItalic r:id="rId43"/>
    </p:embeddedFont>
    <p:embeddedFont>
      <p:font typeface="Lato Light" panose="020F0502020204030203" pitchFamily="34" charset="0"/>
      <p:regular r:id="rId44"/>
      <p:italic r:id="rId45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58" autoAdjust="0"/>
  </p:normalViewPr>
  <p:slideViewPr>
    <p:cSldViewPr>
      <p:cViewPr varScale="1">
        <p:scale>
          <a:sx n="58" d="100"/>
          <a:sy n="58" d="100"/>
        </p:scale>
        <p:origin x="2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DBBB1-42EF-4ABB-8526-1A79889762C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B9B-F802-47B6-8FBA-C50C18DBB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0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33B9B-F802-47B6-8FBA-C50C18DBBB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3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F476A-D159-326B-5698-B75C55A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701F3-CF5A-AD4F-B35A-768D73F8A3C8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5F615-CBC8-EB1A-6045-0B317FF4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8F44-4872-707C-DE45-28609A5E3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8C621A-C9B4-1342-A27F-8BCC8F7E02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6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F3E97-C739-B298-0E3F-B1477FCC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963AB-323D-014F-966C-425417D7C6C3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0E1B2-ABC4-DA65-B3A7-2215DAA6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9FBD-B846-8F71-0C80-3880E579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29368-5365-F74B-AEEE-B3C5C9600D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96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6F24-AE80-FE0E-7490-6BCC3DCE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42DD4-69B9-8A49-84B2-1201D2459A18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955E0-8910-E5C6-9846-4AE86EDA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FD0E9-95FF-3B9F-2C8E-21C5CF97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3E9E4-C54C-FE43-A8E4-CB2C09FB0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13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56C880A-6B7F-7367-F49A-CB6D508B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59860-6BCF-3748-8E31-9DC7BABC1B8D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9369FA-BE87-35F8-8709-A60DED64B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B9FF41-CFE9-2957-1CCC-6896C8C7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3EB26F-5248-DC46-8A51-7250BB945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2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2C6E044-9ACD-3FA4-1580-8F391FE8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E9A1-B15B-6A4D-8CB7-7A82E2E2ED2A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F13E38-B896-82AC-CD86-01225781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D65721-67AE-387B-51C9-83A492B8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CBD28-B47E-4B42-8826-FEE350A1EC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23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125AF-6EC1-FBBD-ED57-0EE4510B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7507E-FDB2-C546-8CDC-D1CC2988076B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A6F67B1-D207-63B0-0FDF-2A0B469D6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0F387B-F73C-E85E-3872-9371D068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B209F-D27A-E940-933B-4EC0BD4F7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7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D3D6C1-BDBD-7F40-1C9A-D3D58BEA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F4F78-F647-B54D-ACF4-9DE8ABF9BA52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2923CD4-5B5E-39DA-24A3-A6C14003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6C68C5-F078-3A35-82D8-07C3B8EF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8A8A9-D22B-EE41-A28A-FFC0AA5BA4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1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8D39C5-AC22-596F-BF29-3D0B0BEB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E5A54-F526-0A4D-809D-1105585EECC6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05E1B9-F15B-DEEE-4570-E9D8F5430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A31094-E29A-1B05-6FD6-6F0D2521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F02B0-8ECA-204B-A66F-0FB70D2F6C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0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BC8C177-D821-860A-CE84-C30269CB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19D43-D838-F140-A484-65D622F7B14D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422C19C-3EEA-D639-75A8-7C1718CD5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440383-F121-168B-7EF9-E94EE981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5EBA5-7E5E-8544-9EFE-B3C6A31F4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2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6F01-43CC-E4F4-3DEA-502E60B8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9D71A-D7AD-E94B-B8F0-A9A3429B4008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16438-BA58-D3CB-BC51-F8791010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7425F-DE84-9361-A8E6-4821294B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1E7F1-6EDB-F549-8859-1FDEFD24F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6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2A559-EEAB-0CA7-DC47-BB14BAE5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2EBD7-9DEA-A049-A0A7-948A02EED1CF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78B9-AE1D-BF72-4242-AEA03864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A057-E954-C0B8-9A20-8039F127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4D0F5-B0D9-AD4E-9E61-667DC4AAC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8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BE846B0-E8AE-580B-C6D9-745C8AFDF9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2C80A43-E285-838C-15CB-32291D6AA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371ED-AEA6-1E46-EED3-13B5A423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4A0A293-A454-D549-A96B-CF311E80151A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67E10-710A-9897-1367-C48F97EC2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D8596-0E0F-DABC-FA76-5AB6EFCC8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6E4FAB-8AE9-8240-B40A-0431010A9D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Freeform 2">
            <a:extLst>
              <a:ext uri="{FF2B5EF4-FFF2-40B4-BE49-F238E27FC236}">
                <a16:creationId xmlns:a16="http://schemas.microsoft.com/office/drawing/2014/main" id="{C48E2871-5308-B092-A3B0-EFAA87E08590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8288000" cy="10287000"/>
          </a:xfrm>
          <a:custGeom>
            <a:avLst/>
            <a:gdLst>
              <a:gd name="T0" fmla="*/ 0 w 18288000"/>
              <a:gd name="T1" fmla="*/ 0 h 10287000"/>
              <a:gd name="T2" fmla="*/ 18288000 w 18288000"/>
              <a:gd name="T3" fmla="*/ 0 h 10287000"/>
              <a:gd name="T4" fmla="*/ 18288000 w 18288000"/>
              <a:gd name="T5" fmla="*/ 10287000 h 10287000"/>
              <a:gd name="T6" fmla="*/ 0 w 18288000"/>
              <a:gd name="T7" fmla="*/ 10287000 h 10287000"/>
              <a:gd name="T8" fmla="*/ 0 w 18288000"/>
              <a:gd name="T9" fmla="*/ 0 h 10287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Blur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BC69F6-9A2E-26D6-2F2E-63A3DD25665F}"/>
              </a:ext>
            </a:extLst>
          </p:cNvPr>
          <p:cNvSpPr/>
          <p:nvPr/>
        </p:nvSpPr>
        <p:spPr>
          <a:xfrm>
            <a:off x="6895255" y="1694448"/>
            <a:ext cx="4497490" cy="1836543"/>
          </a:xfrm>
          <a:custGeom>
            <a:avLst/>
            <a:gdLst/>
            <a:ahLst/>
            <a:cxnLst/>
            <a:rect l="l" t="t" r="r" b="b"/>
            <a:pathLst>
              <a:path w="4497490" h="1836543">
                <a:moveTo>
                  <a:pt x="0" y="0"/>
                </a:moveTo>
                <a:lnTo>
                  <a:pt x="4497490" y="0"/>
                </a:lnTo>
                <a:lnTo>
                  <a:pt x="4497490" y="1836542"/>
                </a:lnTo>
                <a:lnTo>
                  <a:pt x="0" y="1836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179D8D-12F9-3B65-E1A1-CEC8BBDA1D4C}"/>
              </a:ext>
            </a:extLst>
          </p:cNvPr>
          <p:cNvSpPr txBox="1"/>
          <p:nvPr/>
        </p:nvSpPr>
        <p:spPr>
          <a:xfrm>
            <a:off x="1971675" y="5664200"/>
            <a:ext cx="14344650" cy="6540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514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301" spc="-227" dirty="0">
                <a:solidFill>
                  <a:srgbClr val="FEFEFE"/>
                </a:solidFill>
                <a:latin typeface="Lato Light"/>
                <a:ea typeface="Lato Light"/>
                <a:cs typeface="Lato Light"/>
                <a:sym typeface="Lato Light"/>
              </a:rPr>
              <a:t>Will Kinnebrew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A4D95A5-E242-42BA-8537-B57D5EC15AF5}"/>
              </a:ext>
            </a:extLst>
          </p:cNvPr>
          <p:cNvSpPr txBox="1"/>
          <p:nvPr/>
        </p:nvSpPr>
        <p:spPr>
          <a:xfrm>
            <a:off x="1971675" y="3816350"/>
            <a:ext cx="14344650" cy="17319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130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99" b="1" spc="-497" dirty="0">
                <a:solidFill>
                  <a:srgbClr val="FFFFFF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NFL Coaching 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FF1E52-4152-4674-ADD2-C60B13425F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137AFCD-9F07-D3A4-29B5-5EC9E33BE836}"/>
              </a:ext>
            </a:extLst>
          </p:cNvPr>
          <p:cNvSpPr txBox="1"/>
          <p:nvPr/>
        </p:nvSpPr>
        <p:spPr>
          <a:xfrm>
            <a:off x="1971675" y="4198938"/>
            <a:ext cx="14344650" cy="12557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300" b="1" spc="-353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Introduction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E4D9681-B5C1-96DB-27A7-B18A4A86386F}"/>
              </a:ext>
            </a:extLst>
          </p:cNvPr>
          <p:cNvSpPr txBox="1"/>
          <p:nvPr/>
        </p:nvSpPr>
        <p:spPr>
          <a:xfrm>
            <a:off x="1971675" y="5564188"/>
            <a:ext cx="14344650" cy="6540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514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301" spc="-227" dirty="0">
                <a:solidFill>
                  <a:srgbClr val="FEFEFE"/>
                </a:solidFill>
                <a:latin typeface="Lato Light"/>
                <a:ea typeface="Lato Light"/>
                <a:cs typeface="Lato Light"/>
                <a:sym typeface="Lato Light"/>
              </a:rPr>
              <a:t>How do coaches add value, and why do we care?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3D8F98A-FED7-8DC6-2E51-FDA199A345EF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2AB487-E7A5-3E97-ED9C-7BCEFC1F6C92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AB4BE1-C026-D1C2-ADB7-8CFF4B18D0AB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34EBEA9-3B19-735D-9D90-882FC505E96F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Introduction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Why do we care?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B94F8AE-5A3F-9A14-6359-BD72B6AD5D40}"/>
              </a:ext>
            </a:extLst>
          </p:cNvPr>
          <p:cNvSpPr txBox="1"/>
          <p:nvPr/>
        </p:nvSpPr>
        <p:spPr>
          <a:xfrm>
            <a:off x="1320800" y="2014538"/>
            <a:ext cx="15301913" cy="4385816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1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500" b="1" dirty="0">
                <a:solidFill>
                  <a:srgbClr val="00205B"/>
                </a:solidFill>
                <a:latin typeface="Lato Heavy"/>
                <a:ea typeface="Lato Heavy"/>
                <a:cs typeface="Lato Heavy"/>
                <a:sym typeface="Lato Heavy"/>
              </a:rPr>
              <a:t>“Good players can't overcome bad coaching.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3935B0-87DF-FD5C-46B6-02BFFDD85AB5}"/>
              </a:ext>
            </a:extLst>
          </p:cNvPr>
          <p:cNvSpPr txBox="1"/>
          <p:nvPr/>
        </p:nvSpPr>
        <p:spPr>
          <a:xfrm>
            <a:off x="6149975" y="6484938"/>
            <a:ext cx="5641975" cy="67945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999" b="1" dirty="0">
                <a:solidFill>
                  <a:srgbClr val="00205B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— Bill Belichick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AF092E-1433-1841-FB3D-10E270F65C5B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F61608-D3DF-E043-939D-84AF15F74974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F879446-BA21-E653-1C36-11BA2FEEBBF0}"/>
              </a:ext>
            </a:extLst>
          </p:cNvPr>
          <p:cNvSpPr txBox="1"/>
          <p:nvPr/>
        </p:nvSpPr>
        <p:spPr>
          <a:xfrm>
            <a:off x="9459341" y="2523790"/>
            <a:ext cx="7775575" cy="5553636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673480" lvl="1" indent="-336740" eaLnBrk="1" fontAlgn="auto" hangingPunct="1">
              <a:lnSpc>
                <a:spcPts val="5458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dirty="0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Vrabel (Patriots) AFC Champion in year 1 (first since 2018).</a:t>
            </a:r>
          </a:p>
          <a:p>
            <a:pPr marL="673480" lvl="1" indent="-336740" eaLnBrk="1" fontAlgn="auto" hangingPunct="1">
              <a:lnSpc>
                <a:spcPts val="5458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dirty="0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Macdonald (Seahawks) Superbowl winner in year 2 (first since 2014).</a:t>
            </a:r>
          </a:p>
          <a:p>
            <a:pPr marL="673480" lvl="1" indent="-336740" eaLnBrk="1" fontAlgn="auto" hangingPunct="1">
              <a:lnSpc>
                <a:spcPts val="5458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dirty="0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Payton (Broncos) made AFCCG in year 3 (first since 2015).</a:t>
            </a:r>
          </a:p>
          <a:p>
            <a:pPr marL="673480" lvl="1" indent="-336740" eaLnBrk="1" fontAlgn="auto" hangingPunct="1">
              <a:lnSpc>
                <a:spcPts val="5458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dirty="0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Super busy hiring cycle this offseason.</a:t>
            </a:r>
          </a:p>
          <a:p>
            <a:pPr marL="673480" lvl="1" indent="-336740" eaLnBrk="1" fontAlgn="auto" hangingPunct="1">
              <a:lnSpc>
                <a:spcPts val="5458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200" dirty="0">
                <a:solidFill>
                  <a:srgbClr val="00205B"/>
                </a:solidFill>
                <a:latin typeface="Lato"/>
                <a:ea typeface="Lato"/>
                <a:cs typeface="Lato"/>
                <a:sym typeface="Lato"/>
              </a:rPr>
              <a:t>No existing metric for coaches.</a:t>
            </a:r>
          </a:p>
        </p:txBody>
      </p:sp>
      <p:grpSp>
        <p:nvGrpSpPr>
          <p:cNvPr id="15368" name="Group 7">
            <a:extLst>
              <a:ext uri="{FF2B5EF4-FFF2-40B4-BE49-F238E27FC236}">
                <a16:creationId xmlns:a16="http://schemas.microsoft.com/office/drawing/2014/main" id="{31D2EB15-0245-7B52-2EDC-41D584BA08CE}"/>
              </a:ext>
            </a:extLst>
          </p:cNvPr>
          <p:cNvGrpSpPr>
            <a:grpSpLocks/>
          </p:cNvGrpSpPr>
          <p:nvPr/>
        </p:nvGrpSpPr>
        <p:grpSpPr bwMode="auto">
          <a:xfrm>
            <a:off x="9861550" y="1182688"/>
            <a:ext cx="7397750" cy="1065212"/>
            <a:chOff x="0" y="201067"/>
            <a:chExt cx="9863192" cy="2637131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4C46F5-89F5-4A06-9D12-2A37DD1CC35F}"/>
                </a:ext>
              </a:extLst>
            </p:cNvPr>
            <p:cNvSpPr txBox="1"/>
            <p:nvPr/>
          </p:nvSpPr>
          <p:spPr>
            <a:xfrm>
              <a:off x="0" y="201067"/>
              <a:ext cx="9507609" cy="155311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lvl="1" eaLnBrk="1" fontAlgn="auto" hangingPunct="1">
                <a:lnSpc>
                  <a:spcPts val="8729"/>
                </a:lnSpc>
                <a:spcAft>
                  <a:spcPts val="0"/>
                </a:spcAft>
                <a:defRPr/>
              </a:pPr>
              <a:r>
                <a:rPr lang="en-US" sz="8999" b="1" spc="-278" dirty="0">
                  <a:solidFill>
                    <a:srgbClr val="00205B"/>
                  </a:solidFill>
                  <a:latin typeface="Cormorant Garamond Semi-Bold"/>
                  <a:ea typeface="Cormorant Garamond Semi-Bold"/>
                  <a:cs typeface="Cormorant Garamond Semi-Bold"/>
                  <a:sym typeface="Cormorant Garamond Semi-Bold"/>
                </a:rPr>
                <a:t>Why do we care?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7B52FD6-2D56-E754-8C42-9CDE19142CFD}"/>
                </a:ext>
              </a:extLst>
            </p:cNvPr>
            <p:cNvSpPr txBox="1"/>
            <p:nvPr/>
          </p:nvSpPr>
          <p:spPr>
            <a:xfrm>
              <a:off x="0" y="1701657"/>
              <a:ext cx="9863192" cy="113654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eaLnBrk="1" fontAlgn="auto" hangingPunct="1">
                <a:lnSpc>
                  <a:spcPts val="7492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4800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386F17FF-96A9-DD1F-ECBA-216475FEE569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Introduction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Why do we care?</a:t>
            </a:r>
          </a:p>
        </p:txBody>
      </p:sp>
      <p:pic>
        <p:nvPicPr>
          <p:cNvPr id="15370" name="Picture 11">
            <a:extLst>
              <a:ext uri="{FF2B5EF4-FFF2-40B4-BE49-F238E27FC236}">
                <a16:creationId xmlns:a16="http://schemas.microsoft.com/office/drawing/2014/main" id="{0A68FE50-92B4-A621-1744-6B03D3080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0638" y="0"/>
            <a:ext cx="8750301" cy="875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49C125-3A25-6327-BCF3-811958204E58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D5C660-F3F9-77C1-F6A5-CBC653C6846B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2D0087A-B763-9281-9AF4-D5EFDA12CA7E}"/>
              </a:ext>
            </a:extLst>
          </p:cNvPr>
          <p:cNvSpPr txBox="1"/>
          <p:nvPr/>
        </p:nvSpPr>
        <p:spPr>
          <a:xfrm>
            <a:off x="1028700" y="1238250"/>
            <a:ext cx="133731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How do coaches add value?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BBF2832-0E8C-B0DE-E27D-B5BC75D2A605}"/>
              </a:ext>
            </a:extLst>
          </p:cNvPr>
          <p:cNvSpPr txBox="1"/>
          <p:nvPr/>
        </p:nvSpPr>
        <p:spPr>
          <a:xfrm>
            <a:off x="1028700" y="2719388"/>
            <a:ext cx="7566025" cy="486338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Player Development; </a:t>
            </a:r>
            <a:r>
              <a:rPr lang="en-US" sz="3399" b="1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players exceeding expectations</a:t>
            </a: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Fourth Downs;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good decisions resulting in added </a:t>
            </a:r>
            <a:r>
              <a:rPr lang="en-US" sz="3399" dirty="0" err="1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epa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/wp</a:t>
            </a: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Close Games;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good decisions resulting in added </a:t>
            </a:r>
            <a:r>
              <a:rPr lang="en-US" sz="3399" dirty="0" err="1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epa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/wp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FD8616-D944-1185-6CCE-4ADC3520965E}"/>
              </a:ext>
            </a:extLst>
          </p:cNvPr>
          <p:cNvSpPr txBox="1"/>
          <p:nvPr/>
        </p:nvSpPr>
        <p:spPr>
          <a:xfrm>
            <a:off x="9644063" y="2719388"/>
            <a:ext cx="7567612" cy="5478936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Regular Season / Playoffs;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raw success in regular and post-season</a:t>
            </a: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Divisional Games;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ability to beat familiar opponents</a:t>
            </a: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Clock Management;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good decisions resulting in added </a:t>
            </a:r>
            <a:r>
              <a:rPr lang="en-US" sz="3399" dirty="0" err="1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epa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/wp</a:t>
            </a: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AF0ACA-B7C2-E24E-63F2-FD6781499530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Introduction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How do coaches add value?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C06B-78FC-98C7-C436-B25C48DA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4E77F7-220F-2D41-EB1B-4D6A3ACB649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7A26FF-BF9F-2656-A19E-EB6CE94ABF62}"/>
              </a:ext>
            </a:extLst>
          </p:cNvPr>
          <p:cNvSpPr txBox="1"/>
          <p:nvPr/>
        </p:nvSpPr>
        <p:spPr>
          <a:xfrm>
            <a:off x="1971675" y="4198938"/>
            <a:ext cx="14344650" cy="12557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300" b="1" spc="-353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Data &amp; Methodology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B69DC77-B49F-12A8-E709-02458F7AD904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748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5FD09-B41A-C279-3200-635FD516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CB55AE-9DFC-E64D-D72F-E307E582B32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378A6FB-E2A7-0652-34DE-C5DAB498CCB9}"/>
              </a:ext>
            </a:extLst>
          </p:cNvPr>
          <p:cNvSpPr txBox="1"/>
          <p:nvPr/>
        </p:nvSpPr>
        <p:spPr>
          <a:xfrm>
            <a:off x="1800225" y="7800975"/>
            <a:ext cx="141255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7177" name="AutoShape 6">
            <a:extLst>
              <a:ext uri="{FF2B5EF4-FFF2-40B4-BE49-F238E27FC236}">
                <a16:creationId xmlns:a16="http://schemas.microsoft.com/office/drawing/2014/main" id="{5E65CCC4-8B06-D5CC-9E4D-7FAD98C82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1101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599A66A-C30B-BDEE-C2A4-53806BA53922}"/>
              </a:ext>
            </a:extLst>
          </p:cNvPr>
          <p:cNvSpPr/>
          <p:nvPr/>
        </p:nvSpPr>
        <p:spPr>
          <a:xfrm>
            <a:off x="1028700" y="4364664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21AEE30-DC6A-07E5-6C96-E6C80DCE9226}"/>
              </a:ext>
            </a:extLst>
          </p:cNvPr>
          <p:cNvSpPr txBox="1"/>
          <p:nvPr/>
        </p:nvSpPr>
        <p:spPr>
          <a:xfrm>
            <a:off x="1800225" y="4237038"/>
            <a:ext cx="16030575" cy="10299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PFR - Coaches (primary) by team-season ranging back for the entire super-bowl era.</a:t>
            </a:r>
          </a:p>
          <a:p>
            <a:pPr eaLnBrk="1" fontAlgn="auto" hangingPunct="1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 </a:t>
            </a:r>
            <a:endParaRPr lang="en-US" sz="2999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7182" name="AutoShape 9">
            <a:extLst>
              <a:ext uri="{FF2B5EF4-FFF2-40B4-BE49-F238E27FC236}">
                <a16:creationId xmlns:a16="http://schemas.microsoft.com/office/drawing/2014/main" id="{04686573-EE99-7E7A-0D77-430957C6E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039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99E106E-B8C4-01DB-43E1-0FAAC105C64F}"/>
              </a:ext>
            </a:extLst>
          </p:cNvPr>
          <p:cNvSpPr/>
          <p:nvPr/>
        </p:nvSpPr>
        <p:spPr>
          <a:xfrm>
            <a:off x="1028700" y="5554375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2249CF3-8967-812F-426C-D0EB8DD74F4B}"/>
              </a:ext>
            </a:extLst>
          </p:cNvPr>
          <p:cNvSpPr txBox="1"/>
          <p:nvPr/>
        </p:nvSpPr>
        <p:spPr>
          <a:xfrm>
            <a:off x="1800225" y="5413375"/>
            <a:ext cx="110013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 err="1">
                <a:solidFill>
                  <a:schemeClr val="bg1"/>
                </a:solidFill>
                <a:latin typeface="Lato Light" panose="020F0302020204030203" pitchFamily="34" charset="77"/>
              </a:rPr>
              <a:t>nflfastR</a:t>
            </a: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 - Play by play, season data, etc.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7187" name="AutoShape 12">
            <a:extLst>
              <a:ext uri="{FF2B5EF4-FFF2-40B4-BE49-F238E27FC236}">
                <a16:creationId xmlns:a16="http://schemas.microsoft.com/office/drawing/2014/main" id="{FB7CBA48-305D-F8AA-E2CE-402EA950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4977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3FA6608-26C5-1433-26FC-6CA4DCA811E3}"/>
              </a:ext>
            </a:extLst>
          </p:cNvPr>
          <p:cNvSpPr/>
          <p:nvPr/>
        </p:nvSpPr>
        <p:spPr>
          <a:xfrm>
            <a:off x="1028700" y="6748228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D97EB2E-E546-1620-55CF-6D7FDCA841B7}"/>
              </a:ext>
            </a:extLst>
          </p:cNvPr>
          <p:cNvSpPr txBox="1"/>
          <p:nvPr/>
        </p:nvSpPr>
        <p:spPr>
          <a:xfrm>
            <a:off x="1800224" y="6607175"/>
            <a:ext cx="126777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 err="1">
                <a:solidFill>
                  <a:schemeClr val="bg1"/>
                </a:solidFill>
                <a:latin typeface="Lato Light" panose="020F0302020204030203" pitchFamily="34" charset="77"/>
              </a:rPr>
              <a:t>nflreadr</a:t>
            </a: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 - Play by play, season data, etc.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6E3FFD2-55CC-3FEA-BA71-2DA87B6CB5A9}"/>
              </a:ext>
            </a:extLst>
          </p:cNvPr>
          <p:cNvSpPr txBox="1"/>
          <p:nvPr/>
        </p:nvSpPr>
        <p:spPr>
          <a:xfrm>
            <a:off x="1028700" y="1238250"/>
            <a:ext cx="7478713" cy="11684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Data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499A3A6A-61CB-78ED-996A-0D2D570B1BE3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726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8A5915-E5C1-BC42-4D56-C3911453FB5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1EC4EAF-23B8-2F40-6C01-898F86594742}"/>
              </a:ext>
            </a:extLst>
          </p:cNvPr>
          <p:cNvSpPr txBox="1"/>
          <p:nvPr/>
        </p:nvSpPr>
        <p:spPr>
          <a:xfrm>
            <a:off x="1800225" y="7800975"/>
            <a:ext cx="141255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Create a shiny application to allow users to specify score weights and features.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5990174-C7AC-0BB0-26A5-FCDE75976EB9}"/>
              </a:ext>
            </a:extLst>
          </p:cNvPr>
          <p:cNvSpPr/>
          <p:nvPr/>
        </p:nvSpPr>
        <p:spPr>
          <a:xfrm>
            <a:off x="1028700" y="7938975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176" name="AutoShape 5">
            <a:extLst>
              <a:ext uri="{FF2B5EF4-FFF2-40B4-BE49-F238E27FC236}">
                <a16:creationId xmlns:a16="http://schemas.microsoft.com/office/drawing/2014/main" id="{927FEEE4-DBA7-D9F6-C09A-9C78EFFD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6915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AutoShape 6">
            <a:extLst>
              <a:ext uri="{FF2B5EF4-FFF2-40B4-BE49-F238E27FC236}">
                <a16:creationId xmlns:a16="http://schemas.microsoft.com/office/drawing/2014/main" id="{BE020D9C-BD02-E843-4282-8F4A04FB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1101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D194C96-CC04-6AEF-4A86-370A59C76C16}"/>
              </a:ext>
            </a:extLst>
          </p:cNvPr>
          <p:cNvSpPr/>
          <p:nvPr/>
        </p:nvSpPr>
        <p:spPr>
          <a:xfrm>
            <a:off x="1028700" y="4364664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7F39788-1D5F-E7A9-EDFD-2ACB207678FA}"/>
              </a:ext>
            </a:extLst>
          </p:cNvPr>
          <p:cNvSpPr txBox="1"/>
          <p:nvPr/>
        </p:nvSpPr>
        <p:spPr>
          <a:xfrm>
            <a:off x="1800225" y="4237038"/>
            <a:ext cx="160305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Create a series of independent “scores” tracking various coaching statistics/metrics. </a:t>
            </a:r>
            <a:endParaRPr lang="en-US" sz="2999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7182" name="AutoShape 9">
            <a:extLst>
              <a:ext uri="{FF2B5EF4-FFF2-40B4-BE49-F238E27FC236}">
                <a16:creationId xmlns:a16="http://schemas.microsoft.com/office/drawing/2014/main" id="{8D57F301-E256-66D5-2C80-D03882201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039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21A5900-F411-B417-D2DB-0031FBA70BD4}"/>
              </a:ext>
            </a:extLst>
          </p:cNvPr>
          <p:cNvSpPr/>
          <p:nvPr/>
        </p:nvSpPr>
        <p:spPr>
          <a:xfrm>
            <a:off x="1028700" y="5554375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A74216C-2DBD-CAE7-89C1-3B978A6DDC6C}"/>
              </a:ext>
            </a:extLst>
          </p:cNvPr>
          <p:cNvSpPr txBox="1"/>
          <p:nvPr/>
        </p:nvSpPr>
        <p:spPr>
          <a:xfrm>
            <a:off x="1800225" y="5413375"/>
            <a:ext cx="110013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Combine these scores into a larger cumulative score.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7187" name="AutoShape 12">
            <a:extLst>
              <a:ext uri="{FF2B5EF4-FFF2-40B4-BE49-F238E27FC236}">
                <a16:creationId xmlns:a16="http://schemas.microsoft.com/office/drawing/2014/main" id="{ACB5F86C-1410-E614-51C4-DD7021D8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4977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0F321F9-6DB4-2468-6CE8-8EEADDB15DE6}"/>
              </a:ext>
            </a:extLst>
          </p:cNvPr>
          <p:cNvSpPr/>
          <p:nvPr/>
        </p:nvSpPr>
        <p:spPr>
          <a:xfrm>
            <a:off x="1028700" y="6748228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8AF6FE5-50FB-370B-37A1-8A8432F7FBB0}"/>
              </a:ext>
            </a:extLst>
          </p:cNvPr>
          <p:cNvSpPr txBox="1"/>
          <p:nvPr/>
        </p:nvSpPr>
        <p:spPr>
          <a:xfrm>
            <a:off x="1800224" y="6607175"/>
            <a:ext cx="126777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Use this data to highlight top coaching candidates for this year’s cycle.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3" action="ppaction://hlinksldjump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86D87BB-5DB4-B2BF-AF2A-12B89EE353B7}"/>
              </a:ext>
            </a:extLst>
          </p:cNvPr>
          <p:cNvSpPr txBox="1"/>
          <p:nvPr/>
        </p:nvSpPr>
        <p:spPr>
          <a:xfrm>
            <a:off x="1028700" y="1238250"/>
            <a:ext cx="7478713" cy="11684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Methodology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C739EDBD-C515-EF65-F513-350B8BC92AC9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4F24E-9DE7-C70E-4B77-DC69E699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99198-3792-0410-81BD-6D27EF47CEB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8448304-5920-6B82-E986-928B06D41E91}"/>
              </a:ext>
            </a:extLst>
          </p:cNvPr>
          <p:cNvSpPr txBox="1"/>
          <p:nvPr/>
        </p:nvSpPr>
        <p:spPr>
          <a:xfrm>
            <a:off x="1971675" y="4198938"/>
            <a:ext cx="14344650" cy="12557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300" b="1" spc="-353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Modeling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04506F5-89B1-5190-9B3E-FEE55CD6B0DC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9240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A3D6-A6F0-4011-13B3-413563E1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AD324E-20B4-C989-B3C3-E070EF159647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3E9874-5FD9-60BE-4B72-15C78DB78EE1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03D3BB-0255-7CE2-B430-E64B0FBE1E88}"/>
              </a:ext>
            </a:extLst>
          </p:cNvPr>
          <p:cNvSpPr txBox="1"/>
          <p:nvPr/>
        </p:nvSpPr>
        <p:spPr>
          <a:xfrm>
            <a:off x="1028700" y="1238250"/>
            <a:ext cx="7478713" cy="116840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Modeling Process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1A3AAC5-7228-BBC5-42DC-0C974CDFD82E}"/>
              </a:ext>
            </a:extLst>
          </p:cNvPr>
          <p:cNvSpPr txBox="1"/>
          <p:nvPr/>
        </p:nvSpPr>
        <p:spPr>
          <a:xfrm>
            <a:off x="1028700" y="2719388"/>
            <a:ext cx="7566025" cy="5478936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Close Games;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wp% over expected added on plays in 1-score games; percentile by season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Fourth Downs;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wp% over expected added on 4</a:t>
            </a:r>
            <a:r>
              <a:rPr lang="en-US" sz="3399" baseline="30000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th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 down plays; percentile by season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Crunch Time;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wp% over expected added on plays with &lt;= 2min left; percentile by season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8ACDA29-788E-5D4E-6DC6-66A9EC560546}"/>
              </a:ext>
            </a:extLst>
          </p:cNvPr>
          <p:cNvSpPr txBox="1"/>
          <p:nvPr/>
        </p:nvSpPr>
        <p:spPr>
          <a:xfrm>
            <a:off x="9644063" y="2719388"/>
            <a:ext cx="7567612" cy="609448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Regular Season;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percentile ranking of team’s record for that season</a:t>
            </a: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Divisional Games;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percentile ranking of team’s division game record for that season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Playoffs; </a:t>
            </a:r>
            <a:r>
              <a:rPr lang="en-US" sz="3399" dirty="0">
                <a:solidFill>
                  <a:srgbClr val="00205B"/>
                </a:solidFill>
                <a:latin typeface="Lato Light"/>
                <a:ea typeface="Lato Light"/>
                <a:cs typeface="Lato Light"/>
                <a:sym typeface="Lato Light"/>
              </a:rPr>
              <a:t>percentile ranking of team’s playoff performance (based on what round they exited, if they made it)</a:t>
            </a:r>
          </a:p>
          <a:p>
            <a:pPr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341042-A44F-F51E-B6CF-F85ABC049070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Modeling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Scores</a:t>
            </a:r>
          </a:p>
        </p:txBody>
      </p:sp>
    </p:spTree>
    <p:extLst>
      <p:ext uri="{BB962C8B-B14F-4D97-AF65-F5344CB8AC3E}">
        <p14:creationId xmlns:p14="http://schemas.microsoft.com/office/powerpoint/2010/main" val="87449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A6777-5CD0-55D2-13EB-0E5AF6C9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33AC0B-3796-6B24-B2BE-5BDC5B9CD6FA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668512-C678-84AB-C5ED-0C4AEC4402E7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86500F0-5EB8-7C39-9788-D2249C5504D0}"/>
              </a:ext>
            </a:extLst>
          </p:cNvPr>
          <p:cNvSpPr txBox="1"/>
          <p:nvPr/>
        </p:nvSpPr>
        <p:spPr>
          <a:xfrm>
            <a:off x="1028700" y="1238250"/>
            <a:ext cx="91059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Player Development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EA25B53-5176-9D38-D5D4-575E5C97512D}"/>
              </a:ext>
            </a:extLst>
          </p:cNvPr>
          <p:cNvSpPr txBox="1"/>
          <p:nvPr/>
        </p:nvSpPr>
        <p:spPr>
          <a:xfrm>
            <a:off x="1028700" y="2289175"/>
            <a:ext cx="8724900" cy="86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7492"/>
              </a:lnSpc>
              <a:spcAft>
                <a:spcPts val="0"/>
              </a:spcAft>
              <a:defRPr/>
            </a:pPr>
            <a:r>
              <a:rPr lang="en-US" sz="5351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rPr>
              <a:t>Hierarchical Bayesian APM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011D3DB-A548-9753-B710-0A84874E2F66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Modeling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Player Development</a:t>
            </a:r>
          </a:p>
        </p:txBody>
      </p:sp>
      <p:sp>
        <p:nvSpPr>
          <p:cNvPr id="14346" name="TextBox 10">
            <a:extLst>
              <a:ext uri="{FF2B5EF4-FFF2-40B4-BE49-F238E27FC236}">
                <a16:creationId xmlns:a16="http://schemas.microsoft.com/office/drawing/2014/main" id="{B14D2B38-3930-2D50-A829-8B004FA65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3455988"/>
            <a:ext cx="8474075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Quantify how well a coach makes players “overperform” their expected value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APM (Adjusted Plus-Minus) based on EPA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Need to eliminate noise from teammates and game situations to find player’s true impact.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C5E66DF8-FE22-941C-DF62-566B4C042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6917" y="2223418"/>
            <a:ext cx="7467600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Hierarchical Bayesian model treating every play as an observation of 22 players.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Backups with small sample sizes aren’t over-evaluated, while starters with high snap counts provide precise data.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Accounts for offense or defense and the baseline EPA of the situation.</a:t>
            </a:r>
          </a:p>
        </p:txBody>
      </p:sp>
    </p:spTree>
    <p:extLst>
      <p:ext uri="{BB962C8B-B14F-4D97-AF65-F5344CB8AC3E}">
        <p14:creationId xmlns:p14="http://schemas.microsoft.com/office/powerpoint/2010/main" val="76015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build="p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FB4A-BDD9-970A-639E-496F3A63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E5B5773-B7A4-5E0A-B05A-E86405B25244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2E2CB4-92C2-F634-5596-41455990FAB9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0061972-4EBB-7E9A-1DFF-33F7089F98ED}"/>
              </a:ext>
            </a:extLst>
          </p:cNvPr>
          <p:cNvSpPr txBox="1"/>
          <p:nvPr/>
        </p:nvSpPr>
        <p:spPr>
          <a:xfrm>
            <a:off x="1028700" y="1238250"/>
            <a:ext cx="91059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Player Development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5EEE914-6C1E-5223-E378-BD51F12E6C4B}"/>
              </a:ext>
            </a:extLst>
          </p:cNvPr>
          <p:cNvSpPr txBox="1"/>
          <p:nvPr/>
        </p:nvSpPr>
        <p:spPr>
          <a:xfrm>
            <a:off x="1028700" y="2289175"/>
            <a:ext cx="8724900" cy="86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7492"/>
              </a:lnSpc>
              <a:spcAft>
                <a:spcPts val="0"/>
              </a:spcAft>
              <a:defRPr/>
            </a:pPr>
            <a:r>
              <a:rPr lang="en-US" sz="5351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rPr>
              <a:t>Defining “development”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D621E47-488C-84F3-DDAB-2FBD5F3B5982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Modeling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Player Development</a:t>
            </a:r>
          </a:p>
        </p:txBody>
      </p:sp>
      <p:sp>
        <p:nvSpPr>
          <p:cNvPr id="14346" name="TextBox 10">
            <a:extLst>
              <a:ext uri="{FF2B5EF4-FFF2-40B4-BE49-F238E27FC236}">
                <a16:creationId xmlns:a16="http://schemas.microsoft.com/office/drawing/2014/main" id="{AB683AF0-3F04-739C-A048-22895D5E8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3455988"/>
            <a:ext cx="1213167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Development = Observed APM – Expected APM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</a:rPr>
              <a:t>Expected APM </a:t>
            </a:r>
            <a:r>
              <a:rPr lang="en-US" altLang="en-US" sz="4000" dirty="0">
                <a:latin typeface="Lato Light" panose="020F0302020204030203" pitchFamily="34" charset="77"/>
                <a:sym typeface="Wingdings" panose="05000000000000000000" pitchFamily="2" charset="2"/>
              </a:rPr>
              <a:t></a:t>
            </a:r>
          </a:p>
          <a:p>
            <a:pPr marL="1314450" lvl="1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  <a:sym typeface="Wingdings" panose="05000000000000000000" pitchFamily="2" charset="2"/>
              </a:rPr>
              <a:t>Regression based on prior performance, age and experience, draft position, snap counts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Lato Light" panose="020F0302020204030203" pitchFamily="34" charset="77"/>
                <a:sym typeface="Wingdings" panose="05000000000000000000" pitchFamily="2" charset="2"/>
              </a:rPr>
              <a:t>Systemic overperformance across a roster is attributed to coaching quality</a:t>
            </a:r>
          </a:p>
        </p:txBody>
      </p:sp>
    </p:spTree>
    <p:extLst>
      <p:ext uri="{BB962C8B-B14F-4D97-AF65-F5344CB8AC3E}">
        <p14:creationId xmlns:p14="http://schemas.microsoft.com/office/powerpoint/2010/main" val="166253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CFB4-9214-BF87-C24F-5FC67537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2DDD10-2AC4-91BE-47D5-CA6B5B6272B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B646E93-E30E-11BD-05BA-0C8679F4A39D}"/>
              </a:ext>
            </a:extLst>
          </p:cNvPr>
          <p:cNvSpPr txBox="1"/>
          <p:nvPr/>
        </p:nvSpPr>
        <p:spPr>
          <a:xfrm>
            <a:off x="1971675" y="4198938"/>
            <a:ext cx="14344650" cy="12557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300" b="1" spc="-353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Results &amp; Discussion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4FC56AA-A061-C65B-BB67-24A672EECFFA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971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3AD857-69B2-C6AD-9824-C260387DB94C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FECE416-3C67-6E13-472A-F7163C09CE53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2D70E24-95B9-DA23-37FC-F18D7D50AC53}"/>
              </a:ext>
            </a:extLst>
          </p:cNvPr>
          <p:cNvSpPr txBox="1"/>
          <p:nvPr/>
        </p:nvSpPr>
        <p:spPr>
          <a:xfrm>
            <a:off x="1028700" y="1238250"/>
            <a:ext cx="59817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Top Seasons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50F8F70-A9AE-D577-FA85-0EEB81FD08FB}"/>
              </a:ext>
            </a:extLst>
          </p:cNvPr>
          <p:cNvSpPr txBox="1"/>
          <p:nvPr/>
        </p:nvSpPr>
        <p:spPr>
          <a:xfrm>
            <a:off x="1028700" y="2289175"/>
            <a:ext cx="3935413" cy="86754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7492"/>
              </a:lnSpc>
              <a:spcAft>
                <a:spcPts val="0"/>
              </a:spcAft>
              <a:defRPr/>
            </a:pPr>
            <a:r>
              <a:rPr lang="en-US" sz="5351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rPr>
              <a:t>Since 2017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0A0BAA1-FEE3-1ED1-B7E0-359E5CBF946F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Top Seasons Since 2017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ACD35F8-F647-A28B-FF8D-8C76B09DB4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7200" y="122606"/>
            <a:ext cx="9906000" cy="85769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C2A1-3BB4-0897-3168-6097EB24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7C6C97-3D46-6720-F4B4-7F2279B1B577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F8C89C-C472-04A4-3E74-847A56B0F2EC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8B386E-6069-6948-23C1-FA11F7B1B266}"/>
              </a:ext>
            </a:extLst>
          </p:cNvPr>
          <p:cNvSpPr txBox="1"/>
          <p:nvPr/>
        </p:nvSpPr>
        <p:spPr>
          <a:xfrm>
            <a:off x="1028700" y="1238250"/>
            <a:ext cx="59817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Top Coaches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2333024-EAEE-C002-CDEC-11A18961392F}"/>
              </a:ext>
            </a:extLst>
          </p:cNvPr>
          <p:cNvSpPr txBox="1"/>
          <p:nvPr/>
        </p:nvSpPr>
        <p:spPr>
          <a:xfrm>
            <a:off x="1028700" y="2289175"/>
            <a:ext cx="3935413" cy="86754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7492"/>
              </a:lnSpc>
              <a:spcAft>
                <a:spcPts val="0"/>
              </a:spcAft>
              <a:defRPr/>
            </a:pPr>
            <a:r>
              <a:rPr lang="en-US" sz="5351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rPr>
              <a:t>Since 2017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4419CFE-5725-D084-1154-F8C85F19B0E6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Top Coaches Since 2017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4271C05-C8DC-B0E9-4B74-5A183FB81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58400" y="99260"/>
            <a:ext cx="6096000" cy="862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7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0030-2A3A-EF45-F6D7-8D93CD181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C08042-4E6D-2ADD-84AE-7BC7530F8FCC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4164BF-A027-C6CF-6287-F1741029CC5E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24F4906-568D-4896-8336-BD5EE576D870}"/>
              </a:ext>
            </a:extLst>
          </p:cNvPr>
          <p:cNvSpPr txBox="1"/>
          <p:nvPr/>
        </p:nvSpPr>
        <p:spPr>
          <a:xfrm>
            <a:off x="1028700" y="1238250"/>
            <a:ext cx="59817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Top Coaches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FE6A91-6B3E-1C01-181B-3572FEEDC422}"/>
              </a:ext>
            </a:extLst>
          </p:cNvPr>
          <p:cNvSpPr txBox="1"/>
          <p:nvPr/>
        </p:nvSpPr>
        <p:spPr>
          <a:xfrm>
            <a:off x="1028700" y="2289175"/>
            <a:ext cx="3935413" cy="86754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7492"/>
              </a:lnSpc>
              <a:spcAft>
                <a:spcPts val="0"/>
              </a:spcAft>
              <a:defRPr/>
            </a:pPr>
            <a:r>
              <a:rPr lang="en-US" sz="5351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rPr>
              <a:t>In 2025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E348B6-9651-ADA0-4335-9F7DB151673C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Top Coaches in 2025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DABD74D-66B4-2A42-F2F3-8BD2708F46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8200" y="515917"/>
            <a:ext cx="9591336" cy="8176943"/>
          </a:xfrm>
          <a:prstGeom prst="rect">
            <a:avLst/>
          </a:prstGeom>
        </p:spPr>
      </p:pic>
      <p:sp>
        <p:nvSpPr>
          <p:cNvPr id="9" name="Star: 5 Points 8">
            <a:extLst>
              <a:ext uri="{FF2B5EF4-FFF2-40B4-BE49-F238E27FC236}">
                <a16:creationId xmlns:a16="http://schemas.microsoft.com/office/drawing/2014/main" id="{29FA97F4-CAB2-314B-3B3E-BA99C5677670}"/>
              </a:ext>
            </a:extLst>
          </p:cNvPr>
          <p:cNvSpPr/>
          <p:nvPr/>
        </p:nvSpPr>
        <p:spPr>
          <a:xfrm>
            <a:off x="10297223" y="2083435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95B5A9D-4DF1-9BE5-7697-C9BE17CEE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3455988"/>
            <a:ext cx="7383463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latin typeface="Lato Light" panose="020F0302020204030203" pitchFamily="34" charset="77"/>
              </a:rPr>
              <a:t>Despite a strong season, McDermott was still fired. This is likely due to the Bill’s inability to make a Superbowl despite their consistent success.</a:t>
            </a:r>
          </a:p>
        </p:txBody>
      </p:sp>
    </p:spTree>
    <p:extLst>
      <p:ext uri="{BB962C8B-B14F-4D97-AF65-F5344CB8AC3E}">
        <p14:creationId xmlns:p14="http://schemas.microsoft.com/office/powerpoint/2010/main" val="396070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E0AD0-3B77-B699-85CB-D9129700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683856-AB22-E428-F6EA-7EC89F3C0FD5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D6E75C1-DFB1-D2D5-2A88-8D60AF11E21C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84865A-0572-F0D9-67BD-CCF844210207}"/>
              </a:ext>
            </a:extLst>
          </p:cNvPr>
          <p:cNvSpPr txBox="1"/>
          <p:nvPr/>
        </p:nvSpPr>
        <p:spPr>
          <a:xfrm>
            <a:off x="1028700" y="1238250"/>
            <a:ext cx="72771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Bottom Coaches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241F295-0A24-017C-B36D-60CE78A00FCD}"/>
              </a:ext>
            </a:extLst>
          </p:cNvPr>
          <p:cNvSpPr txBox="1"/>
          <p:nvPr/>
        </p:nvSpPr>
        <p:spPr>
          <a:xfrm>
            <a:off x="1028700" y="2289175"/>
            <a:ext cx="3935413" cy="86754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7492"/>
              </a:lnSpc>
              <a:spcAft>
                <a:spcPts val="0"/>
              </a:spcAft>
              <a:defRPr/>
            </a:pPr>
            <a:r>
              <a:rPr lang="en-US" sz="5351" dirty="0">
                <a:solidFill>
                  <a:srgbClr val="7C7E7F"/>
                </a:solidFill>
                <a:latin typeface="Lato"/>
                <a:ea typeface="Lato"/>
                <a:cs typeface="Lato"/>
                <a:sym typeface="Lato"/>
              </a:rPr>
              <a:t>In 2025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6224BDA-325F-6C3F-327B-D35F985F55CB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Bottom Coaches in 2025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828D4AD-139B-9790-C3AB-F972681F0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8200" y="1129721"/>
            <a:ext cx="9591336" cy="6949335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96088217-E5FB-833F-2D5F-961A6EB39EA9}"/>
              </a:ext>
            </a:extLst>
          </p:cNvPr>
          <p:cNvSpPr/>
          <p:nvPr/>
        </p:nvSpPr>
        <p:spPr>
          <a:xfrm>
            <a:off x="10034016" y="3140343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ACD2A58B-F3FE-D55B-E042-443A0E321595}"/>
              </a:ext>
            </a:extLst>
          </p:cNvPr>
          <p:cNvSpPr/>
          <p:nvPr/>
        </p:nvSpPr>
        <p:spPr>
          <a:xfrm>
            <a:off x="10034016" y="2471487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96C4E00-6E70-EF4C-4115-688ACFE41AB8}"/>
              </a:ext>
            </a:extLst>
          </p:cNvPr>
          <p:cNvSpPr/>
          <p:nvPr/>
        </p:nvSpPr>
        <p:spPr>
          <a:xfrm>
            <a:off x="10034016" y="4375788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E77BBD37-F417-B84E-A335-F278817FE2D9}"/>
              </a:ext>
            </a:extLst>
          </p:cNvPr>
          <p:cNvSpPr/>
          <p:nvPr/>
        </p:nvSpPr>
        <p:spPr>
          <a:xfrm>
            <a:off x="10056876" y="5001568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25073319-A49D-DBDE-F1DE-5B3372605BD5}"/>
              </a:ext>
            </a:extLst>
          </p:cNvPr>
          <p:cNvSpPr/>
          <p:nvPr/>
        </p:nvSpPr>
        <p:spPr>
          <a:xfrm>
            <a:off x="10034016" y="6281008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2A991C8F-6C7D-3219-199B-1007219B3649}"/>
              </a:ext>
            </a:extLst>
          </p:cNvPr>
          <p:cNvSpPr/>
          <p:nvPr/>
        </p:nvSpPr>
        <p:spPr>
          <a:xfrm>
            <a:off x="10027920" y="6934668"/>
            <a:ext cx="228600" cy="2286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C88C094B-DBBD-2350-A543-24D7E17AF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3455988"/>
            <a:ext cx="7383463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latin typeface="Lato Light" panose="020F0302020204030203" pitchFamily="34" charset="77"/>
              </a:rPr>
              <a:t>Other teams who parted from their coaches include: </a:t>
            </a:r>
          </a:p>
          <a:p>
            <a:pPr eaLnBrk="1" hangingPunct="1"/>
            <a:r>
              <a:rPr lang="en-US" altLang="en-US" sz="4000" dirty="0">
                <a:latin typeface="Lato Light" panose="020F0302020204030203" pitchFamily="34" charset="77"/>
              </a:rPr>
              <a:t>BUF (2; Sean McDermott, fired), PIT (11, Mike Tomlin, Resigned),</a:t>
            </a:r>
          </a:p>
          <a:p>
            <a:pPr eaLnBrk="1" hangingPunct="1"/>
            <a:r>
              <a:rPr lang="en-US" altLang="en-US" sz="4000" dirty="0">
                <a:latin typeface="Lato Light" panose="020F0302020204030203" pitchFamily="34" charset="77"/>
              </a:rPr>
              <a:t>ATL (18; Raheem Morris, fired), BAL (22; John Harbaugh, fired)</a:t>
            </a:r>
          </a:p>
        </p:txBody>
      </p:sp>
    </p:spTree>
    <p:extLst>
      <p:ext uri="{BB962C8B-B14F-4D97-AF65-F5344CB8AC3E}">
        <p14:creationId xmlns:p14="http://schemas.microsoft.com/office/powerpoint/2010/main" val="419465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04678-AF60-58FB-1FEB-3A9CE210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A6E40A-769C-C618-6D4B-D0FF9779375F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AE11BA9-D1CA-7E1A-EEE8-1C6E3BEE351B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20BADE-1CE8-673E-7828-B10CBDC5EAF4}"/>
              </a:ext>
            </a:extLst>
          </p:cNvPr>
          <p:cNvSpPr txBox="1"/>
          <p:nvPr/>
        </p:nvSpPr>
        <p:spPr>
          <a:xfrm>
            <a:off x="1028700" y="1238250"/>
            <a:ext cx="90297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Hired HC This Cycle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489BB77-B9C0-FFB6-BA21-3FC2BBC61FF1}"/>
              </a:ext>
            </a:extLst>
          </p:cNvPr>
          <p:cNvSpPr txBox="1"/>
          <p:nvPr/>
        </p:nvSpPr>
        <p:spPr>
          <a:xfrm>
            <a:off x="1028700" y="2516744"/>
            <a:ext cx="17030701" cy="6094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Bold"/>
                <a:cs typeface="Lato Bold"/>
                <a:sym typeface="Lato Bold"/>
              </a:rPr>
              <a:t>Bills – Joe Brady (2.53*)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Cardinals – Mike LaFleur (2.12*)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Falcons – Kevin Stefanski (3.46)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Ravens – Jesse Minter (2.95*)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Browns – Todd Monken (2.011*)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Raiders – Klint Kubiak (2.28*)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Dolphins – Jeff Hafley (2.5*)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Giants – John Harbaugh (5.31)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Steelers – Mike McCarthy (4.94)</a:t>
            </a:r>
          </a:p>
          <a:p>
            <a:pPr marL="734047" lvl="1" indent="-367023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Titans – Robert Saleh (2.14)                         *only ever an asst coach, so score is out of 4.5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7655E18-4CC1-FB27-E365-D666230BBC96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This Cycle</a:t>
            </a:r>
          </a:p>
        </p:txBody>
      </p:sp>
    </p:spTree>
    <p:extLst>
      <p:ext uri="{BB962C8B-B14F-4D97-AF65-F5344CB8AC3E}">
        <p14:creationId xmlns:p14="http://schemas.microsoft.com/office/powerpoint/2010/main" val="1789545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1BBF6-1A05-9700-784F-12561E8D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47C157-2D4B-AE1F-E123-9EE51D512083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0226D2C-8595-727D-A84B-B4AAB0D1EF19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ECD428E-03C6-7026-2FAF-23D20EBC6D56}"/>
              </a:ext>
            </a:extLst>
          </p:cNvPr>
          <p:cNvSpPr txBox="1"/>
          <p:nvPr/>
        </p:nvSpPr>
        <p:spPr>
          <a:xfrm>
            <a:off x="1028700" y="1238250"/>
            <a:ext cx="145161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Notable former HC (not hired)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4EE43F3-A41E-0094-50E9-235C31CD0137}"/>
              </a:ext>
            </a:extLst>
          </p:cNvPr>
          <p:cNvSpPr txBox="1"/>
          <p:nvPr/>
        </p:nvSpPr>
        <p:spPr>
          <a:xfrm>
            <a:off x="1028699" y="2719388"/>
            <a:ext cx="17030701" cy="54789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Sean McDermott (5.96)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Doug Pederson (4.59)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Pete Carroll (4.45)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Mike McDaniel (4.29)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Mike Zimmer (4.24)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5410905-635E-9E92-F16A-418168B2342D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This Cycle</a:t>
            </a:r>
          </a:p>
        </p:txBody>
      </p:sp>
    </p:spTree>
    <p:extLst>
      <p:ext uri="{BB962C8B-B14F-4D97-AF65-F5344CB8AC3E}">
        <p14:creationId xmlns:p14="http://schemas.microsoft.com/office/powerpoint/2010/main" val="2344803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D7395-25D8-FA33-E2EF-F62AFF03A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C7012E-7FED-00EA-B1E2-4683BE1D9E44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6040125-8815-9E6D-231B-6FA40EEDED86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8C22A2-9AD6-19DD-CDBC-5FA518A03C00}"/>
              </a:ext>
            </a:extLst>
          </p:cNvPr>
          <p:cNvSpPr txBox="1"/>
          <p:nvPr/>
        </p:nvSpPr>
        <p:spPr>
          <a:xfrm>
            <a:off x="1028700" y="1238250"/>
            <a:ext cx="155067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Notable Asst Coaches (not hired)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BDB40D-4DC8-6653-33FB-C9169AE5254A}"/>
              </a:ext>
            </a:extLst>
          </p:cNvPr>
          <p:cNvSpPr txBox="1"/>
          <p:nvPr/>
        </p:nvSpPr>
        <p:spPr>
          <a:xfrm>
            <a:off x="1028699" y="2719388"/>
            <a:ext cx="17030701" cy="4247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Eric </a:t>
            </a:r>
            <a:r>
              <a:rPr lang="en-US" sz="3399" b="1" dirty="0" err="1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Bieniemy</a:t>
            </a: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; 3.14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Greg Roman; 2.9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Pete Carmichael; 2.78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George Edwards; 2.8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Joe Lombardi; 2.51</a:t>
            </a: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  <a:p>
            <a:pPr marL="824224" lvl="1" indent="-457200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88566BF-3E1C-1331-E8BE-DFA78E2595BA}"/>
              </a:ext>
            </a:extLst>
          </p:cNvPr>
          <p:cNvSpPr txBox="1"/>
          <p:nvPr/>
        </p:nvSpPr>
        <p:spPr>
          <a:xfrm>
            <a:off x="1028700" y="9334500"/>
            <a:ext cx="13631863" cy="44140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eaLnBrk="1" fontAlgn="auto" hangingPunct="1">
              <a:lnSpc>
                <a:spcPts val="3298"/>
              </a:lnSpc>
              <a:spcAft>
                <a:spcPts val="0"/>
              </a:spcAft>
              <a:defRPr/>
            </a:pPr>
            <a:r>
              <a:rPr lang="en-US" sz="3400" spc="-105" dirty="0">
                <a:solidFill>
                  <a:srgbClr val="9FDDF9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Results</a:t>
            </a:r>
            <a:r>
              <a:rPr lang="en-US" sz="3400" spc="-105" dirty="0">
                <a:solidFill>
                  <a:srgbClr val="FEFEFE"/>
                </a:solidFill>
                <a:latin typeface="Cormorant Garamond Light"/>
                <a:ea typeface="Cormorant Garamond Light"/>
                <a:cs typeface="Cormorant Garamond Light"/>
                <a:sym typeface="Cormorant Garamond Light"/>
              </a:rPr>
              <a:t>  |  This Cycle</a:t>
            </a:r>
          </a:p>
        </p:txBody>
      </p:sp>
    </p:spTree>
    <p:extLst>
      <p:ext uri="{BB962C8B-B14F-4D97-AF65-F5344CB8AC3E}">
        <p14:creationId xmlns:p14="http://schemas.microsoft.com/office/powerpoint/2010/main" val="29862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42F83-B7D6-D849-94F0-709B7B82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4872D3-C486-3190-DE7D-1BA268E187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02552E4-74C6-5C97-3C58-B19281F068FF}"/>
              </a:ext>
            </a:extLst>
          </p:cNvPr>
          <p:cNvSpPr txBox="1"/>
          <p:nvPr/>
        </p:nvSpPr>
        <p:spPr>
          <a:xfrm>
            <a:off x="1971675" y="4198938"/>
            <a:ext cx="14344650" cy="242630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9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300" b="1" spc="-353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Future Work &amp; Areas for Improvement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1F3AA60-AF38-5827-2B2A-A1B4C10EC444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7077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6D67-0B84-0E0F-31C8-2F87969D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BA2C5B-CAF4-3DAE-3D1D-6F220715942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7177" name="AutoShape 6">
            <a:extLst>
              <a:ext uri="{FF2B5EF4-FFF2-40B4-BE49-F238E27FC236}">
                <a16:creationId xmlns:a16="http://schemas.microsoft.com/office/drawing/2014/main" id="{8A10A516-961C-836C-CDBA-9A10FE2C2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1101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722F4CD-8DFE-8D93-5C8F-47B794B449C3}"/>
              </a:ext>
            </a:extLst>
          </p:cNvPr>
          <p:cNvSpPr/>
          <p:nvPr/>
        </p:nvSpPr>
        <p:spPr>
          <a:xfrm>
            <a:off x="1028700" y="4364664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211CC72-D113-3A15-2D5A-59DECB660B6D}"/>
              </a:ext>
            </a:extLst>
          </p:cNvPr>
          <p:cNvSpPr txBox="1"/>
          <p:nvPr/>
        </p:nvSpPr>
        <p:spPr>
          <a:xfrm>
            <a:off x="1800225" y="4237038"/>
            <a:ext cx="107727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1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More robust dataset of Coaches allows for more depth</a:t>
            </a:r>
            <a:endParaRPr lang="en-US" sz="2999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4" action="ppaction://hlinksldjump"/>
            </a:endParaRPr>
          </a:p>
        </p:txBody>
      </p:sp>
      <p:sp>
        <p:nvSpPr>
          <p:cNvPr id="7182" name="AutoShape 9">
            <a:extLst>
              <a:ext uri="{FF2B5EF4-FFF2-40B4-BE49-F238E27FC236}">
                <a16:creationId xmlns:a16="http://schemas.microsoft.com/office/drawing/2014/main" id="{99EA5976-1F6A-EE51-7578-D70D05166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039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1237523-58A6-6138-3C45-74A1E5C2B031}"/>
              </a:ext>
            </a:extLst>
          </p:cNvPr>
          <p:cNvSpPr/>
          <p:nvPr/>
        </p:nvSpPr>
        <p:spPr>
          <a:xfrm>
            <a:off x="1028700" y="5554375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9E66967-92DA-BC44-ABAE-062CAFF99A5E}"/>
              </a:ext>
            </a:extLst>
          </p:cNvPr>
          <p:cNvSpPr txBox="1"/>
          <p:nvPr/>
        </p:nvSpPr>
        <p:spPr>
          <a:xfrm>
            <a:off x="1800225" y="5413375"/>
            <a:ext cx="15344775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Coaching network would be a great addition – lack of data depth prevents this currently 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4" action="ppaction://hlinksldjump"/>
            </a:endParaRPr>
          </a:p>
        </p:txBody>
      </p:sp>
      <p:sp>
        <p:nvSpPr>
          <p:cNvPr id="7187" name="AutoShape 12">
            <a:extLst>
              <a:ext uri="{FF2B5EF4-FFF2-40B4-BE49-F238E27FC236}">
                <a16:creationId xmlns:a16="http://schemas.microsoft.com/office/drawing/2014/main" id="{267F80CE-279C-919E-6755-67A551773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497763"/>
            <a:ext cx="18453100" cy="0"/>
          </a:xfrm>
          <a:prstGeom prst="line">
            <a:avLst/>
          </a:prstGeom>
          <a:noFill/>
          <a:ln w="19050">
            <a:solidFill>
              <a:srgbClr val="9FDDF9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1D76B3E-D977-7A8C-1817-CD6F45258412}"/>
              </a:ext>
            </a:extLst>
          </p:cNvPr>
          <p:cNvSpPr/>
          <p:nvPr/>
        </p:nvSpPr>
        <p:spPr>
          <a:xfrm>
            <a:off x="1028700" y="6748228"/>
            <a:ext cx="532546" cy="305004"/>
          </a:xfrm>
          <a:custGeom>
            <a:avLst/>
            <a:gdLst/>
            <a:ahLst/>
            <a:cxnLst/>
            <a:rect l="l" t="t" r="r" b="b"/>
            <a:pathLst>
              <a:path w="532546" h="305004">
                <a:moveTo>
                  <a:pt x="0" y="0"/>
                </a:moveTo>
                <a:lnTo>
                  <a:pt x="532546" y="0"/>
                </a:lnTo>
                <a:lnTo>
                  <a:pt x="532546" y="305004"/>
                </a:lnTo>
                <a:lnTo>
                  <a:pt x="0" y="30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198FE8-2E56-F79E-4E4C-91E577139588}"/>
              </a:ext>
            </a:extLst>
          </p:cNvPr>
          <p:cNvSpPr txBox="1"/>
          <p:nvPr/>
        </p:nvSpPr>
        <p:spPr>
          <a:xfrm>
            <a:off x="1800224" y="6607175"/>
            <a:ext cx="14277976" cy="4913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4200"/>
              </a:lnSpc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Lato Light" panose="020F0302020204030203" pitchFamily="34" charset="77"/>
              </a:rPr>
              <a:t>Inherently best when used with custom weights - Shiny App will improve this</a:t>
            </a:r>
            <a:endParaRPr lang="en-US" sz="3000" b="1" spc="-32" dirty="0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  <a:hlinkClick r:id="rId4" action="ppaction://hlinksldjump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317D93F-AAB8-7A36-18CF-7195596345EA}"/>
              </a:ext>
            </a:extLst>
          </p:cNvPr>
          <p:cNvSpPr txBox="1"/>
          <p:nvPr/>
        </p:nvSpPr>
        <p:spPr>
          <a:xfrm>
            <a:off x="1028700" y="1238250"/>
            <a:ext cx="17259300" cy="1164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Future Work &amp; Areas for Improvement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989594B-A103-44CB-E706-54A82309C3B8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5804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38C8-6D9F-0E71-295B-61B2123C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7CC8D1-3385-45E8-0CB5-22374CECCC20}"/>
              </a:ext>
            </a:extLst>
          </p:cNvPr>
          <p:cNvSpPr/>
          <p:nvPr/>
        </p:nvSpPr>
        <p:spPr>
          <a:xfrm>
            <a:off x="0" y="8759021"/>
            <a:ext cx="18288000" cy="1658521"/>
          </a:xfrm>
          <a:custGeom>
            <a:avLst/>
            <a:gdLst/>
            <a:ahLst/>
            <a:cxnLst/>
            <a:rect l="l" t="t" r="r" b="b"/>
            <a:pathLst>
              <a:path w="18288000" h="1658521">
                <a:moveTo>
                  <a:pt x="0" y="0"/>
                </a:moveTo>
                <a:lnTo>
                  <a:pt x="18288000" y="0"/>
                </a:lnTo>
                <a:lnTo>
                  <a:pt x="18288000" y="1658521"/>
                </a:lnTo>
                <a:lnTo>
                  <a:pt x="0" y="1658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3749" b="-4032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9BB91C-76C2-8517-8CFF-AE5661944C4F}"/>
              </a:ext>
            </a:extLst>
          </p:cNvPr>
          <p:cNvSpPr/>
          <p:nvPr/>
        </p:nvSpPr>
        <p:spPr>
          <a:xfrm>
            <a:off x="15414705" y="9048627"/>
            <a:ext cx="2189812" cy="894207"/>
          </a:xfrm>
          <a:custGeom>
            <a:avLst/>
            <a:gdLst/>
            <a:ahLst/>
            <a:cxnLst/>
            <a:rect l="l" t="t" r="r" b="b"/>
            <a:pathLst>
              <a:path w="2189812" h="894207">
                <a:moveTo>
                  <a:pt x="0" y="0"/>
                </a:moveTo>
                <a:lnTo>
                  <a:pt x="2189813" y="0"/>
                </a:lnTo>
                <a:lnTo>
                  <a:pt x="2189813" y="894206"/>
                </a:lnTo>
                <a:lnTo>
                  <a:pt x="0" y="894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415" b="-18415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257350-C448-D3E8-C693-9230884D6780}"/>
              </a:ext>
            </a:extLst>
          </p:cNvPr>
          <p:cNvSpPr txBox="1"/>
          <p:nvPr/>
        </p:nvSpPr>
        <p:spPr>
          <a:xfrm>
            <a:off x="1371600" y="1238250"/>
            <a:ext cx="7135813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 eaLnBrk="1" fontAlgn="auto" hangingPunct="1">
              <a:lnSpc>
                <a:spcPts val="8729"/>
              </a:lnSpc>
              <a:spcAft>
                <a:spcPts val="0"/>
              </a:spcAft>
              <a:defRPr/>
            </a:pPr>
            <a:r>
              <a:rPr lang="en-US" sz="8999" b="1" spc="-278" dirty="0">
                <a:solidFill>
                  <a:srgbClr val="00205B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Conclusion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06EF761-510C-821D-EBEA-393C097B8011}"/>
              </a:ext>
            </a:extLst>
          </p:cNvPr>
          <p:cNvSpPr txBox="1"/>
          <p:nvPr/>
        </p:nvSpPr>
        <p:spPr>
          <a:xfrm>
            <a:off x="1028700" y="2719388"/>
            <a:ext cx="9867900" cy="6710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67024" lvl="1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By using various EPA and wp% metrics, we can attribute these residuals to coaches to give an estimate of the literal value they add to their teams.</a:t>
            </a:r>
          </a:p>
          <a:p>
            <a:pPr marL="367024" lvl="1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  <a:p>
            <a:pPr marL="367024" lvl="1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This information can then be used to not only identify top performing current coaches, but also up and coming assistant coaches that should be targets during a hiring cycle.</a:t>
            </a:r>
          </a:p>
          <a:p>
            <a:pPr marL="367024" lvl="1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399" b="1" dirty="0">
              <a:solidFill>
                <a:srgbClr val="00205B"/>
              </a:solidFill>
              <a:latin typeface="Lato Bold"/>
              <a:ea typeface="Lato Light"/>
              <a:cs typeface="Lato Bold"/>
              <a:sym typeface="Lato Bold"/>
            </a:endParaRPr>
          </a:p>
          <a:p>
            <a:pPr marL="367024" lvl="1" eaLnBrk="1" fontAlgn="auto" hangingPunct="1">
              <a:lnSpc>
                <a:spcPts val="475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399" b="1" dirty="0">
                <a:solidFill>
                  <a:srgbClr val="00205B"/>
                </a:solidFill>
                <a:latin typeface="Lato Bold"/>
                <a:ea typeface="Lato Light"/>
                <a:cs typeface="Lato Bold"/>
                <a:sym typeface="Lato Bold"/>
              </a:rPr>
              <a:t> </a:t>
            </a:r>
            <a:endParaRPr lang="en-US" sz="3399" dirty="0">
              <a:solidFill>
                <a:srgbClr val="00205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  <p:extLst>
      <p:ext uri="{BB962C8B-B14F-4D97-AF65-F5344CB8AC3E}">
        <p14:creationId xmlns:p14="http://schemas.microsoft.com/office/powerpoint/2010/main" val="858447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2A7982-A0F9-1FE4-16F3-38715DF80CD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496A338-E93D-DED8-4146-2F779730A218}"/>
              </a:ext>
            </a:extLst>
          </p:cNvPr>
          <p:cNvSpPr txBox="1"/>
          <p:nvPr/>
        </p:nvSpPr>
        <p:spPr>
          <a:xfrm>
            <a:off x="1971675" y="3816350"/>
            <a:ext cx="14344650" cy="17319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1309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99" b="1" spc="-497" dirty="0">
                <a:solidFill>
                  <a:srgbClr val="9FDDF9"/>
                </a:solidFill>
                <a:latin typeface="Cormorant Garamond Semi-Bold"/>
                <a:ea typeface="Cormorant Garamond Semi-Bold"/>
                <a:cs typeface="Cormorant Garamond Semi-Bold"/>
                <a:sym typeface="Cormorant Garamond Semi-Bold"/>
              </a:rPr>
              <a:t>Thank You!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EC23D1B-D881-6907-D0D4-280D8B905E41}"/>
              </a:ext>
            </a:extLst>
          </p:cNvPr>
          <p:cNvSpPr txBox="1"/>
          <p:nvPr/>
        </p:nvSpPr>
        <p:spPr>
          <a:xfrm>
            <a:off x="1971675" y="5662613"/>
            <a:ext cx="14344650" cy="6540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514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5301" spc="100" dirty="0">
                <a:solidFill>
                  <a:srgbClr val="FEFEFE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ice Advanced Template" id="{FAFC77FF-AF2B-0746-8A1D-CDFA724CC3B9}" vid="{24D747F0-2140-8149-804B-22C769E7D5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Rice Advanced Template</Template>
  <TotalTime>473</TotalTime>
  <Words>900</Words>
  <Application>Microsoft Office PowerPoint</Application>
  <PresentationFormat>Custom</PresentationFormat>
  <Paragraphs>124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Cormorant Garamond Bold</vt:lpstr>
      <vt:lpstr>Calibri</vt:lpstr>
      <vt:lpstr>Lato Light</vt:lpstr>
      <vt:lpstr>Arial</vt:lpstr>
      <vt:lpstr>Lato Heavy</vt:lpstr>
      <vt:lpstr>Lato</vt:lpstr>
      <vt:lpstr>Lato Bold</vt:lpstr>
      <vt:lpstr>Cormorant Garamond Semi-Bold</vt:lpstr>
      <vt:lpstr>Cormorant Garamond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Kinnebrew</dc:creator>
  <cp:lastModifiedBy>Will Kinnebrew</cp:lastModifiedBy>
  <cp:revision>3</cp:revision>
  <dcterms:created xsi:type="dcterms:W3CDTF">2026-04-13T17:29:29Z</dcterms:created>
  <dcterms:modified xsi:type="dcterms:W3CDTF">2026-04-14T15:20:40Z</dcterms:modified>
</cp:coreProperties>
</file>