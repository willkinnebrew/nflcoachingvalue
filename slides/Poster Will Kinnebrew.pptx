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handoutMasterIdLst>
    <p:handoutMasterId r:id="rId4"/>
  </p:handoutMasterIdLst>
  <p:sldIdLst>
    <p:sldId id="256" r:id="rId2"/>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5B"/>
    <a:srgbClr val="ADC8DD"/>
    <a:srgbClr val="9FDDFA"/>
    <a:srgbClr val="8D9DA2"/>
    <a:srgbClr val="1337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44" autoAdjust="0"/>
    <p:restoredTop sz="89041" autoAdjust="0"/>
  </p:normalViewPr>
  <p:slideViewPr>
    <p:cSldViewPr snapToGrid="0">
      <p:cViewPr varScale="1">
        <p:scale>
          <a:sx n="17" d="100"/>
          <a:sy n="17" d="100"/>
        </p:scale>
        <p:origin x="1190" y="89"/>
      </p:cViewPr>
      <p:guideLst>
        <p:guide orient="horz" pos="10368"/>
        <p:guide pos="13824"/>
      </p:guideLst>
    </p:cSldViewPr>
  </p:slideViewPr>
  <p:notesTextViewPr>
    <p:cViewPr>
      <p:scale>
        <a:sx n="1" d="1"/>
        <a:sy n="1" d="1"/>
      </p:scale>
      <p:origin x="0" y="0"/>
    </p:cViewPr>
  </p:notesTextViewPr>
  <p:notesViewPr>
    <p:cSldViewPr snapToGrid="0" showGuides="1">
      <p:cViewPr varScale="1">
        <p:scale>
          <a:sx n="65" d="100"/>
          <a:sy n="65" d="100"/>
        </p:scale>
        <p:origin x="279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4/16/2026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4/16/2026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en-US" sz="1200" dirty="0">
                <a:solidFill>
                  <a:prstClr val="white">
                    <a:lumMod val="50000"/>
                  </a:prstClr>
                </a:solidFill>
                <a:cs typeface="Calibri" panose="020F0502020204030204" pitchFamily="34" charset="0"/>
              </a:rPr>
              <a:t>You can rearrange each section (e.g., Abstract, Introduction, etc.) or customize as needed to best fit your content. This is just a sample layout of the poster.</a:t>
            </a:r>
          </a:p>
        </p:txBody>
      </p:sp>
      <p:sp>
        <p:nvSpPr>
          <p:cNvPr id="4" name="Slide Number Placeholder 3"/>
          <p:cNvSpPr>
            <a:spLocks noGrp="1"/>
          </p:cNvSpPr>
          <p:nvPr>
            <p:ph type="sldNum" sz="quarter" idx="10"/>
          </p:nvPr>
        </p:nvSpPr>
        <p:spPr/>
        <p:txBody>
          <a:bodyPr/>
          <a:lstStyle/>
          <a:p>
            <a:fld id="{37C7F044-5458-4B2E-BFA0-52AAA1C529D4}" type="slidenum">
              <a:rPr lang="en-US" smtClean="0"/>
              <a:t>1</a:t>
            </a:fld>
            <a:endParaRPr lang="en-US"/>
          </a:p>
        </p:txBody>
      </p:sp>
    </p:spTree>
    <p:extLst>
      <p:ext uri="{BB962C8B-B14F-4D97-AF65-F5344CB8AC3E}">
        <p14:creationId xmlns:p14="http://schemas.microsoft.com/office/powerpoint/2010/main" val="1953554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2" name="Title 1"/>
          <p:cNvSpPr>
            <a:spLocks noGrp="1"/>
          </p:cNvSpPr>
          <p:nvPr>
            <p:ph type="title"/>
          </p:nvPr>
        </p:nvSpPr>
        <p:spPr>
          <a:xfrm>
            <a:off x="6400800" y="990600"/>
            <a:ext cx="31089600" cy="2514540"/>
          </a:xfrm>
        </p:spPr>
        <p:txBody>
          <a:bodyPr/>
          <a:lstStyle/>
          <a:p>
            <a:r>
              <a:rPr lang="en-US"/>
              <a:t>Click to edit Master title style</a:t>
            </a:r>
          </a:p>
        </p:txBody>
      </p:sp>
      <p:sp>
        <p:nvSpPr>
          <p:cNvPr id="31" name="Text Placeholder 6"/>
          <p:cNvSpPr>
            <a:spLocks noGrp="1"/>
          </p:cNvSpPr>
          <p:nvPr>
            <p:ph type="body" sz="quarter" idx="36"/>
          </p:nvPr>
        </p:nvSpPr>
        <p:spPr bwMode="auto">
          <a:xfrm>
            <a:off x="6400800" y="3588603"/>
            <a:ext cx="31089600" cy="830997"/>
          </a:xfrm>
        </p:spPr>
        <p:txBody>
          <a:bodyPr>
            <a:noAutofit/>
          </a:bodyPr>
          <a:lstStyle>
            <a:lvl1pPr marL="0" indent="0">
              <a:spcBef>
                <a:spcPts val="0"/>
              </a:spcBef>
              <a:buNone/>
              <a:defRPr sz="2400">
                <a:solidFill>
                  <a:schemeClr val="bg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3" name="Date Placeholder 2"/>
          <p:cNvSpPr>
            <a:spLocks noGrp="1"/>
          </p:cNvSpPr>
          <p:nvPr>
            <p:ph type="dt" sz="half" idx="10"/>
          </p:nvPr>
        </p:nvSpPr>
        <p:spPr/>
        <p:txBody>
          <a:bodyPr/>
          <a:lstStyle/>
          <a:p>
            <a:fld id="{ECAA57DF-1C19-4726-AB84-014692BAD8F5}"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7" name="Text Placeholder 6"/>
          <p:cNvSpPr>
            <a:spLocks noGrp="1"/>
          </p:cNvSpPr>
          <p:nvPr>
            <p:ph type="body" sz="quarter" idx="13" hasCustomPrompt="1"/>
          </p:nvPr>
        </p:nvSpPr>
        <p:spPr>
          <a:xfrm>
            <a:off x="1143000" y="5852160"/>
            <a:ext cx="12801600" cy="1219200"/>
          </a:xfrm>
          <a:prstGeom prst="round1Rect">
            <a:avLst/>
          </a:prstGeom>
          <a:solidFill>
            <a:schemeClr val="accent2"/>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9" name="Content Placeholder 17"/>
          <p:cNvSpPr>
            <a:spLocks noGrp="1"/>
          </p:cNvSpPr>
          <p:nvPr>
            <p:ph sz="quarter" idx="24" hasCustomPrompt="1"/>
          </p:nvPr>
        </p:nvSpPr>
        <p:spPr>
          <a:xfrm>
            <a:off x="1143000" y="7071360"/>
            <a:ext cx="12801600" cy="6858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1" name="Text Placeholder 6"/>
          <p:cNvSpPr>
            <a:spLocks noGrp="1"/>
          </p:cNvSpPr>
          <p:nvPr>
            <p:ph type="body" sz="quarter" idx="17" hasCustomPrompt="1"/>
          </p:nvPr>
        </p:nvSpPr>
        <p:spPr>
          <a:xfrm>
            <a:off x="1143000" y="15032736"/>
            <a:ext cx="12801600" cy="1219200"/>
          </a:xfrm>
          <a:prstGeom prst="round1Rect">
            <a:avLst/>
          </a:prstGeom>
          <a:solidFill>
            <a:schemeClr val="accent3"/>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251936"/>
            <a:ext cx="12801600" cy="9088165"/>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5831800"/>
            <a:ext cx="12801600" cy="1219200"/>
          </a:xfrm>
          <a:prstGeom prst="round1Rect">
            <a:avLst/>
          </a:prstGeom>
          <a:solidFill>
            <a:schemeClr val="accent4"/>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852160"/>
            <a:ext cx="12801600" cy="1219200"/>
          </a:xfrm>
          <a:prstGeom prst="round1Rect">
            <a:avLst/>
          </a:prstGeom>
          <a:solidFill>
            <a:schemeClr val="accent5"/>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071360"/>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8" name="Content Placeholder 17"/>
          <p:cNvSpPr>
            <a:spLocks noGrp="1"/>
          </p:cNvSpPr>
          <p:nvPr>
            <p:ph sz="quarter" idx="23" hasCustomPrompt="1"/>
          </p:nvPr>
        </p:nvSpPr>
        <p:spPr>
          <a:xfrm>
            <a:off x="15544800" y="11948160"/>
            <a:ext cx="12801600" cy="61722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3" name="Content Placeholder 17"/>
          <p:cNvSpPr>
            <a:spLocks noGrp="1"/>
          </p:cNvSpPr>
          <p:nvPr>
            <p:ph sz="quarter" idx="28" hasCustomPrompt="1"/>
          </p:nvPr>
        </p:nvSpPr>
        <p:spPr>
          <a:xfrm>
            <a:off x="15544800" y="23469600"/>
            <a:ext cx="12801600" cy="1752600"/>
          </a:xfrm>
        </p:spPr>
        <p:txBody>
          <a:bodyPr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p:txBody>
      </p:sp>
      <p:sp>
        <p:nvSpPr>
          <p:cNvPr id="24" name="Text Placeholder 6"/>
          <p:cNvSpPr>
            <a:spLocks noGrp="1"/>
          </p:cNvSpPr>
          <p:nvPr>
            <p:ph type="body" sz="quarter" idx="29" hasCustomPrompt="1"/>
          </p:nvPr>
        </p:nvSpPr>
        <p:spPr>
          <a:xfrm>
            <a:off x="15544800" y="25831800"/>
            <a:ext cx="12801600" cy="1219200"/>
          </a:xfrm>
          <a:prstGeom prst="round1Rect">
            <a:avLst/>
          </a:prstGeom>
          <a:solidFill>
            <a:schemeClr val="accent6"/>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852160"/>
            <a:ext cx="12801600" cy="1219200"/>
          </a:xfrm>
          <a:prstGeom prst="round1Rect">
            <a:avLst/>
          </a:prstGeom>
          <a:solidFill>
            <a:schemeClr val="accent6"/>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071360"/>
            <a:ext cx="12801600" cy="73152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5837408"/>
            <a:ext cx="12801600" cy="73152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9" name="Text Placeholder 6"/>
          <p:cNvSpPr>
            <a:spLocks noGrp="1"/>
          </p:cNvSpPr>
          <p:nvPr>
            <p:ph type="body" sz="quarter" idx="34" hasCustomPrompt="1"/>
          </p:nvPr>
        </p:nvSpPr>
        <p:spPr>
          <a:xfrm>
            <a:off x="29900880" y="25831800"/>
            <a:ext cx="12801600" cy="1219200"/>
          </a:xfrm>
          <a:prstGeom prst="round1Rect">
            <a:avLst/>
          </a:prstGeom>
          <a:solidFill>
            <a:schemeClr val="accent1"/>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invGray">
          <a:xfrm>
            <a:off x="0" y="0"/>
            <a:ext cx="43891200" cy="5029200"/>
          </a:xfrm>
          <a:prstGeom prst="rect">
            <a:avLst/>
          </a:prstGeom>
          <a:solidFill>
            <a:srgbClr val="ADC8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6400800" y="990600"/>
            <a:ext cx="31089600" cy="25145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6400800" y="6019800"/>
            <a:ext cx="31089600" cy="236296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4/16/2026</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8800" b="1"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46780" y="616340"/>
            <a:ext cx="31089600" cy="1437036"/>
          </a:xfrm>
        </p:spPr>
        <p:txBody>
          <a:bodyPr/>
          <a:lstStyle/>
          <a:p>
            <a:pPr algn="ctr"/>
            <a:r>
              <a:rPr lang="en-US" dirty="0">
                <a:solidFill>
                  <a:srgbClr val="00205B"/>
                </a:solidFill>
                <a:latin typeface="Arial" panose="020B0604020202020204" pitchFamily="34" charset="0"/>
                <a:cs typeface="Arial" panose="020B0604020202020204" pitchFamily="34" charset="0"/>
              </a:rPr>
              <a:t>Coaching Value in the NFL</a:t>
            </a:r>
          </a:p>
        </p:txBody>
      </p:sp>
      <p:sp>
        <p:nvSpPr>
          <p:cNvPr id="23" name="Text Placeholder 22"/>
          <p:cNvSpPr>
            <a:spLocks noGrp="1"/>
          </p:cNvSpPr>
          <p:nvPr>
            <p:ph type="body" sz="quarter" idx="36"/>
          </p:nvPr>
        </p:nvSpPr>
        <p:spPr>
          <a:xfrm>
            <a:off x="6746780" y="2450777"/>
            <a:ext cx="31089600" cy="830997"/>
          </a:xfrm>
        </p:spPr>
        <p:txBody>
          <a:bodyPr/>
          <a:lstStyle/>
          <a:p>
            <a:pPr algn="ctr"/>
            <a:r>
              <a:rPr lang="en-US" sz="4800" dirty="0">
                <a:solidFill>
                  <a:srgbClr val="00205B"/>
                </a:solidFill>
                <a:latin typeface="Arial" panose="020B0604020202020204" pitchFamily="34" charset="0"/>
                <a:cs typeface="Arial" panose="020B0604020202020204" pitchFamily="34" charset="0"/>
              </a:rPr>
              <a:t>Will Kinnebrew ‘27</a:t>
            </a:r>
            <a:endParaRPr lang="en-US" sz="2800" dirty="0">
              <a:solidFill>
                <a:srgbClr val="00205B"/>
              </a:solidFill>
              <a:latin typeface="Arial" panose="020B0604020202020204" pitchFamily="34" charset="0"/>
              <a:cs typeface="Arial" panose="020B0604020202020204" pitchFamily="34" charset="0"/>
            </a:endParaRPr>
          </a:p>
        </p:txBody>
      </p:sp>
      <p:sp>
        <p:nvSpPr>
          <p:cNvPr id="5" name="Text Placeholder 4"/>
          <p:cNvSpPr>
            <a:spLocks noGrp="1"/>
          </p:cNvSpPr>
          <p:nvPr>
            <p:ph type="body" sz="quarter" idx="13"/>
          </p:nvPr>
        </p:nvSpPr>
        <p:spPr>
          <a:solidFill>
            <a:srgbClr val="00205B"/>
          </a:solidFill>
        </p:spPr>
        <p:txBody>
          <a:bodyPr/>
          <a:lstStyle/>
          <a:p>
            <a:r>
              <a:rPr lang="en-US" dirty="0">
                <a:latin typeface="Arial" panose="020B0604020202020204" pitchFamily="34" charset="0"/>
                <a:cs typeface="Arial" panose="020B0604020202020204" pitchFamily="34" charset="0"/>
              </a:rPr>
              <a:t>abstract</a:t>
            </a:r>
          </a:p>
        </p:txBody>
      </p:sp>
      <p:sp>
        <p:nvSpPr>
          <p:cNvPr id="11" name="Content Placeholder 10"/>
          <p:cNvSpPr>
            <a:spLocks noGrp="1"/>
          </p:cNvSpPr>
          <p:nvPr>
            <p:ph sz="quarter" idx="24"/>
          </p:nvPr>
        </p:nvSpPr>
        <p:spPr>
          <a:xfrm>
            <a:off x="1143000" y="7071359"/>
            <a:ext cx="12801600" cy="7775171"/>
          </a:xfrm>
        </p:spPr>
        <p:txBody>
          <a:bodyPr>
            <a:normAutofit lnSpcReduction="10000"/>
          </a:bodyPr>
          <a:lstStyle/>
          <a:p>
            <a:pPr marL="0" indent="0">
              <a:buNone/>
            </a:pPr>
            <a:r>
              <a:rPr lang="en-US" sz="2400" dirty="0">
                <a:latin typeface="Arial" panose="020B0604020202020204" pitchFamily="34" charset="0"/>
                <a:cs typeface="Arial" panose="020B0604020202020204" pitchFamily="34" charset="0"/>
              </a:rPr>
              <a:t>While coaching is a primary driver of success in the NFL, a standard quantitative metric to measure a coach’s literal value to their team remains elusive. This research introduces a data-driven framework to quantify coaching value by analyzing play-by-play data since 2017.</a:t>
            </a:r>
          </a:p>
          <a:p>
            <a:pPr marL="0" indent="0">
              <a:buNone/>
            </a:pPr>
            <a:r>
              <a:rPr lang="en-US" sz="2400" dirty="0">
                <a:latin typeface="Arial" panose="020B0604020202020204" pitchFamily="34" charset="0"/>
                <a:cs typeface="Arial" panose="020B0604020202020204" pitchFamily="34" charset="0"/>
              </a:rPr>
              <a:t>Coaches are evaluated through a cumulative score derived from several independent performance categories, including decision-making in high-leverage situations (fourth downs, close games, and "crunch time") and raw success (regular season, divisional, and playoff records). </a:t>
            </a:r>
          </a:p>
          <a:p>
            <a:pPr marL="0" indent="0">
              <a:buNone/>
            </a:pPr>
            <a:r>
              <a:rPr lang="en-US" sz="2400" dirty="0">
                <a:latin typeface="Arial" panose="020B0604020202020204" pitchFamily="34" charset="0"/>
                <a:cs typeface="Arial" panose="020B0604020202020204" pitchFamily="34" charset="0"/>
              </a:rPr>
              <a:t>A key innovation of the model is the isolation of player development using a Hierarchical Bayesian Adjusted Plus-Minus (APM) model based on Expected Points Added (EPA). By comparing observed player impact against expectations based on age, experience, volume, and draft position, systemic roster overperformance is identified and attributed to coaching </a:t>
            </a:r>
            <a:r>
              <a:rPr lang="en-US" sz="2000" dirty="0">
                <a:latin typeface="Arial" panose="020B0604020202020204" pitchFamily="34" charset="0"/>
                <a:cs typeface="Arial" panose="020B0604020202020204" pitchFamily="34" charset="0"/>
              </a:rPr>
              <a:t>quality</a:t>
            </a:r>
            <a:r>
              <a:rPr lang="en-US" sz="2400" dirty="0">
                <a:latin typeface="Arial" panose="020B0604020202020204" pitchFamily="34" charset="0"/>
                <a:cs typeface="Arial" panose="020B0604020202020204" pitchFamily="34" charset="0"/>
              </a:rPr>
              <a:t>.</a:t>
            </a:r>
          </a:p>
          <a:p>
            <a:pPr marL="0" indent="0">
              <a:buNone/>
            </a:pPr>
            <a:r>
              <a:rPr lang="en-US" sz="2400" dirty="0">
                <a:latin typeface="Arial" panose="020B0604020202020204" pitchFamily="34" charset="0"/>
                <a:cs typeface="Arial" panose="020B0604020202020204" pitchFamily="34" charset="0"/>
              </a:rPr>
              <a:t>The framework also offers practical utility by identifying high-performing current coaches like Mike Vrabel and targeting valuable assistant candidates for future hiring cycles. </a:t>
            </a:r>
          </a:p>
          <a:p>
            <a:pPr marL="0" indent="0">
              <a:buNone/>
            </a:pPr>
            <a:r>
              <a:rPr lang="en-US" sz="2400" dirty="0">
                <a:latin typeface="Arial" panose="020B0604020202020204" pitchFamily="34" charset="0"/>
                <a:cs typeface="Arial" panose="020B0604020202020204" pitchFamily="34" charset="0"/>
              </a:rPr>
              <a:t>Furthermore, the model highlights discrepancies between coaching value and job security, as seen in the firing of Sean McDermott despite a strong score in 2025 and the second highest total score since 2017.</a:t>
            </a:r>
          </a:p>
          <a:p>
            <a:pPr marL="0" indent="0">
              <a:buNone/>
            </a:pPr>
            <a:r>
              <a:rPr lang="en-US" sz="2400" dirty="0">
                <a:latin typeface="Arial" panose="020B0604020202020204" pitchFamily="34" charset="0"/>
                <a:cs typeface="Arial" panose="020B0604020202020204" pitchFamily="34" charset="0"/>
              </a:rPr>
              <a:t>Ultimately, this research provides NFL organizations with a robust tool to move beyond traditional narratives and objectively identify elite coaching talent.</a:t>
            </a:r>
          </a:p>
        </p:txBody>
      </p:sp>
      <p:sp>
        <p:nvSpPr>
          <p:cNvPr id="7" name="Text Placeholder 6"/>
          <p:cNvSpPr>
            <a:spLocks noGrp="1"/>
          </p:cNvSpPr>
          <p:nvPr>
            <p:ph type="body" sz="quarter" idx="17"/>
          </p:nvPr>
        </p:nvSpPr>
        <p:spPr>
          <a:solidFill>
            <a:srgbClr val="00205B"/>
          </a:solidFill>
        </p:spPr>
        <p:txBody>
          <a:bodyPr/>
          <a:lstStyle/>
          <a:p>
            <a:r>
              <a:rPr lang="en-US" dirty="0">
                <a:latin typeface="Arial" panose="020B0604020202020204" pitchFamily="34" charset="0"/>
                <a:cs typeface="Arial" panose="020B0604020202020204" pitchFamily="34" charset="0"/>
              </a:rPr>
              <a:t>Introduction</a:t>
            </a:r>
          </a:p>
        </p:txBody>
      </p:sp>
      <p:sp>
        <p:nvSpPr>
          <p:cNvPr id="12" name="Content Placeholder 11"/>
          <p:cNvSpPr>
            <a:spLocks noGrp="1"/>
          </p:cNvSpPr>
          <p:nvPr>
            <p:ph sz="quarter" idx="25"/>
          </p:nvPr>
        </p:nvSpPr>
        <p:spPr>
          <a:xfrm>
            <a:off x="1143000" y="16251936"/>
            <a:ext cx="12801600" cy="3722039"/>
          </a:xfrm>
        </p:spPr>
        <p:txBody>
          <a:bodyPr>
            <a:normAutofit lnSpcReduction="10000"/>
          </a:bodyPr>
          <a:lstStyle/>
          <a:p>
            <a:pPr marL="0" indent="0">
              <a:buNone/>
            </a:pPr>
            <a:r>
              <a:rPr lang="en-US" sz="2400" b="1" dirty="0">
                <a:latin typeface="Arial" panose="020B0604020202020204" pitchFamily="34" charset="0"/>
                <a:cs typeface="Arial" panose="020B0604020202020204" pitchFamily="34" charset="0"/>
              </a:rPr>
              <a:t>“Good Players Can’t Overcome Bad Coaching” –Bill Belichick</a:t>
            </a:r>
          </a:p>
          <a:p>
            <a:pPr marL="0" indent="0">
              <a:buNone/>
            </a:pPr>
            <a:r>
              <a:rPr lang="en-US" sz="2400" dirty="0">
                <a:latin typeface="Arial" panose="020B0604020202020204" pitchFamily="34" charset="0"/>
                <a:cs typeface="Arial" panose="020B0604020202020204" pitchFamily="34" charset="0"/>
              </a:rPr>
              <a:t>NFL Coaches set the floor and ceiling for their teams. More than any other professional sport, NFL coaches are highly responsible for game decisions, playcalling, and putting their team in the best position to win games. They add or subtract value in the form of points and wins every single play, yet there exists no metric to quantify this.</a:t>
            </a:r>
          </a:p>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According to research conducted by Goff Brian (2013), NFL coaches alone account for up to a 15% increase in wins and a 12% increase in losses, accounting for up to 21% of total variation in wins. That number is only 8.5% in the MLB.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9" name="Text Placeholder 8"/>
          <p:cNvSpPr>
            <a:spLocks noGrp="1"/>
          </p:cNvSpPr>
          <p:nvPr>
            <p:ph type="body" sz="quarter" idx="21"/>
          </p:nvPr>
        </p:nvSpPr>
        <p:spPr>
          <a:solidFill>
            <a:srgbClr val="00205B"/>
          </a:solidFill>
        </p:spPr>
        <p:txBody>
          <a:bodyPr/>
          <a:lstStyle/>
          <a:p>
            <a:r>
              <a:rPr lang="en-US" dirty="0">
                <a:latin typeface="Arial" panose="020B0604020202020204" pitchFamily="34" charset="0"/>
                <a:cs typeface="Arial" panose="020B0604020202020204" pitchFamily="34" charset="0"/>
              </a:rPr>
              <a:t>methods</a:t>
            </a:r>
          </a:p>
        </p:txBody>
      </p:sp>
      <p:sp>
        <p:nvSpPr>
          <p:cNvPr id="14" name="Content Placeholder 13"/>
          <p:cNvSpPr>
            <a:spLocks noGrp="1"/>
          </p:cNvSpPr>
          <p:nvPr>
            <p:ph sz="quarter" idx="27"/>
          </p:nvPr>
        </p:nvSpPr>
        <p:spPr>
          <a:xfrm>
            <a:off x="15215402" y="7071359"/>
            <a:ext cx="5887445" cy="9949543"/>
          </a:xfrm>
        </p:spPr>
        <p:txBody>
          <a:bodyPr>
            <a:noAutofit/>
          </a:bodyPr>
          <a:lstStyle/>
          <a:p>
            <a:pPr marL="0" indent="0">
              <a:buNone/>
            </a:pPr>
            <a:r>
              <a:rPr lang="en-US" sz="2400" dirty="0">
                <a:latin typeface="Arial" panose="020B0604020202020204" pitchFamily="34" charset="0"/>
                <a:cs typeface="Arial" panose="020B0604020202020204" pitchFamily="34" charset="0"/>
              </a:rPr>
              <a:t>For close games, fourth downs, and crunch time scenarios, value is derived as the percentile ranking of the coach’s total win probability over expected added on plays in those situations. In order to compare coaches on their true quality in these categories, we can bootstrap the observations to create confidence intervals that estimate the true mean value they add in these scenarios. This is done for 4</a:t>
            </a:r>
            <a:r>
              <a:rPr lang="en-US" sz="2400" baseline="30000" dirty="0">
                <a:latin typeface="Arial" panose="020B0604020202020204" pitchFamily="34" charset="0"/>
                <a:cs typeface="Arial" panose="020B0604020202020204" pitchFamily="34" charset="0"/>
              </a:rPr>
              <a:t>th</a:t>
            </a:r>
            <a:r>
              <a:rPr lang="en-US" sz="2400" dirty="0">
                <a:latin typeface="Arial" panose="020B0604020202020204" pitchFamily="34" charset="0"/>
                <a:cs typeface="Arial" panose="020B0604020202020204" pitchFamily="34" charset="0"/>
              </a:rPr>
              <a:t> down playcalling and two-minute drill playcalling, as shown on the right.</a:t>
            </a:r>
          </a:p>
          <a:p>
            <a:pPr marL="0" indent="0">
              <a:buNone/>
            </a:pPr>
            <a:r>
              <a:rPr lang="en-US" sz="2400" dirty="0">
                <a:latin typeface="Arial" panose="020B0604020202020204" pitchFamily="34" charset="0"/>
                <a:cs typeface="Arial" panose="020B0604020202020204" pitchFamily="34" charset="0"/>
              </a:rPr>
              <a:t>For raw success, we can take the coach’s percentile rankings on total regular season wins, divisional wins, and playoff success relative to other coaches that season. Playoff success is defined as the round reached, where there are essentially 6 levels a team can be at (Super Bowl winner, loser, championship loser, divisional round loser, wildcard loser, and missing playoffs entirely).</a:t>
            </a:r>
          </a:p>
          <a:p>
            <a:pPr marL="0" indent="0">
              <a:buNone/>
            </a:pPr>
            <a:r>
              <a:rPr lang="en-US" sz="2400" dirty="0">
                <a:latin typeface="Arial" panose="020B0604020202020204" pitchFamily="34" charset="0"/>
                <a:cs typeface="Arial" panose="020B0604020202020204" pitchFamily="34" charset="0"/>
              </a:rPr>
              <a:t>Each of these contribute 1 point to the coach’s final cumulative score. </a:t>
            </a: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p:txBody>
      </p:sp>
      <p:sp>
        <p:nvSpPr>
          <p:cNvPr id="16" name="Text Placeholder 15"/>
          <p:cNvSpPr>
            <a:spLocks noGrp="1"/>
          </p:cNvSpPr>
          <p:nvPr>
            <p:ph type="body" sz="quarter" idx="29"/>
          </p:nvPr>
        </p:nvSpPr>
        <p:spPr>
          <a:xfrm>
            <a:off x="15499080" y="24515797"/>
            <a:ext cx="12801600" cy="1219200"/>
          </a:xfrm>
          <a:solidFill>
            <a:srgbClr val="00205B"/>
          </a:solidFill>
        </p:spPr>
        <p:txBody>
          <a:bodyPr/>
          <a:lstStyle/>
          <a:p>
            <a:r>
              <a:rPr lang="en-US" dirty="0">
                <a:latin typeface="Arial" panose="020B0604020202020204" pitchFamily="34" charset="0"/>
                <a:cs typeface="Arial" panose="020B0604020202020204" pitchFamily="34" charset="0"/>
              </a:rPr>
              <a:t>Results – This Hiring Cycle</a:t>
            </a:r>
          </a:p>
        </p:txBody>
      </p:sp>
      <p:sp>
        <p:nvSpPr>
          <p:cNvPr id="17" name="Content Placeholder 16"/>
          <p:cNvSpPr>
            <a:spLocks noGrp="1"/>
          </p:cNvSpPr>
          <p:nvPr>
            <p:ph sz="quarter" idx="30"/>
          </p:nvPr>
        </p:nvSpPr>
        <p:spPr>
          <a:xfrm>
            <a:off x="14996160" y="26190945"/>
            <a:ext cx="6949440" cy="4572000"/>
          </a:xfrm>
        </p:spPr>
        <p:txBody>
          <a:bodyPr>
            <a:normAutofit fontScale="55000" lnSpcReduction="20000"/>
          </a:bodyPr>
          <a:lstStyle/>
          <a:p>
            <a:pPr marL="367024" marR="0" lvl="1" indent="0" algn="l" defTabSz="914400" rtl="0" eaLnBrk="1" fontAlgn="auto" latinLnBrk="0" hangingPunct="1">
              <a:lnSpc>
                <a:spcPct val="120000"/>
              </a:lnSpc>
              <a:spcBef>
                <a:spcPts val="0"/>
              </a:spcBef>
              <a:spcAft>
                <a:spcPts val="0"/>
              </a:spcAft>
              <a:buClrTx/>
              <a:buSzTx/>
              <a:buNone/>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Bold"/>
                <a:cs typeface="Arial" panose="020B0604020202020204" pitchFamily="34" charset="0"/>
                <a:sym typeface="Lato Bold"/>
              </a:rPr>
              <a:t>HC Hired This Cycle:</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Bold"/>
                <a:cs typeface="Arial" panose="020B0604020202020204" pitchFamily="34" charset="0"/>
                <a:sym typeface="Lato Bold"/>
              </a:rPr>
              <a:t>Bills – Joe Brady (2.53*)</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Cardinals – Mike LaFleur (2.12*)</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Falcons – Kevin Stefanski (3.46)</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Ravens – Jesse Minter (2.95*)</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Browns – Todd Monken (2.011*)</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Raiders – Klint Kubiak (2.28*)</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Dolphins – Jeff Hafley (2.5*)</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Giants – John Harbaugh (5.31)</a:t>
            </a:r>
          </a:p>
          <a:p>
            <a:pPr marL="734047" marR="0" lvl="1" indent="-367023" algn="l" defTabSz="914400" rtl="0" eaLnBrk="1" fontAlgn="auto" latinLnBrk="0" hangingPunct="1">
              <a:lnSpc>
                <a:spcPct val="120000"/>
              </a:lnSpc>
              <a:spcBef>
                <a:spcPts val="0"/>
              </a:spcBef>
              <a:spcAft>
                <a:spcPts val="0"/>
              </a:spcAft>
              <a:buClrTx/>
              <a:buSzTx/>
              <a:buFont typeface="Arial"/>
              <a:buChar char="•"/>
              <a:tabLst/>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Steelers – Mike McCarthy (4.94)</a:t>
            </a:r>
          </a:p>
          <a:p>
            <a:pPr marL="734047" lvl="1" indent="-367023" defTabSz="914400">
              <a:lnSpc>
                <a:spcPct val="120000"/>
              </a:lnSpc>
              <a:spcBef>
                <a:spcPts val="0"/>
              </a:spcBef>
              <a:buClrTx/>
              <a:buFont typeface="Arial"/>
              <a:buChar char="•"/>
              <a:defRPr/>
            </a:pPr>
            <a:r>
              <a:rPr kumimoji="0" lang="en-US" sz="4400" b="1" i="0" u="none" strike="noStrike" kern="1200" cap="none" spc="0" normalizeH="0" baseline="0" noProof="0" dirty="0">
                <a:ln>
                  <a:noFill/>
                </a:ln>
                <a:solidFill>
                  <a:srgbClr val="00205B"/>
                </a:solidFill>
                <a:effectLst/>
                <a:uLnTx/>
                <a:uFillTx/>
                <a:latin typeface="Arial" panose="020B0604020202020204" pitchFamily="34" charset="0"/>
                <a:ea typeface="Lato Light"/>
                <a:cs typeface="Arial" panose="020B0604020202020204" pitchFamily="34" charset="0"/>
                <a:sym typeface="Lato Bold"/>
              </a:rPr>
              <a:t>Titans – Robert Saleh (2.14)                           </a:t>
            </a:r>
          </a:p>
          <a:p>
            <a:pPr marL="367024" lvl="1" indent="0" defTabSz="914400">
              <a:lnSpc>
                <a:spcPct val="120000"/>
              </a:lnSpc>
              <a:spcBef>
                <a:spcPts val="0"/>
              </a:spcBef>
              <a:buClrTx/>
              <a:buNone/>
              <a:defRPr/>
            </a:pPr>
            <a:r>
              <a:rPr lang="en-US" sz="3300" b="1" dirty="0">
                <a:solidFill>
                  <a:srgbClr val="00205B"/>
                </a:solidFill>
                <a:latin typeface="Arial" panose="020B0604020202020204" pitchFamily="34" charset="0"/>
                <a:ea typeface="Lato Light"/>
                <a:cs typeface="Arial" panose="020B0604020202020204" pitchFamily="34" charset="0"/>
                <a:sym typeface="Lato Bold"/>
              </a:rPr>
              <a:t>*only ever an asst coach, so score is roughly out of 4.5 </a:t>
            </a:r>
            <a:endParaRPr lang="en-US" b="1" dirty="0">
              <a:latin typeface="Arial" panose="020B0604020202020204" pitchFamily="34" charset="0"/>
              <a:cs typeface="Arial" panose="020B0604020202020204" pitchFamily="34" charset="0"/>
            </a:endParaRPr>
          </a:p>
        </p:txBody>
      </p:sp>
      <p:sp>
        <p:nvSpPr>
          <p:cNvPr id="18" name="Text Placeholder 17"/>
          <p:cNvSpPr>
            <a:spLocks noGrp="1"/>
          </p:cNvSpPr>
          <p:nvPr>
            <p:ph type="body" sz="quarter" idx="31"/>
          </p:nvPr>
        </p:nvSpPr>
        <p:spPr>
          <a:solidFill>
            <a:srgbClr val="00205B"/>
          </a:solidFill>
        </p:spPr>
        <p:txBody>
          <a:bodyPr/>
          <a:lstStyle/>
          <a:p>
            <a:r>
              <a:rPr lang="en-US" dirty="0">
                <a:latin typeface="Arial" panose="020B0604020202020204" pitchFamily="34" charset="0"/>
                <a:cs typeface="Arial" panose="020B0604020202020204" pitchFamily="34" charset="0"/>
              </a:rPr>
              <a:t>Results – This season</a:t>
            </a:r>
          </a:p>
        </p:txBody>
      </p:sp>
      <p:sp>
        <p:nvSpPr>
          <p:cNvPr id="21" name="Text Placeholder 20"/>
          <p:cNvSpPr>
            <a:spLocks noGrp="1"/>
          </p:cNvSpPr>
          <p:nvPr>
            <p:ph type="body" sz="quarter" idx="34"/>
          </p:nvPr>
        </p:nvSpPr>
        <p:spPr>
          <a:solidFill>
            <a:srgbClr val="00205B"/>
          </a:solidFill>
        </p:spPr>
        <p:txBody>
          <a:bodyPr/>
          <a:lstStyle/>
          <a:p>
            <a:r>
              <a:rPr lang="en-US" dirty="0">
                <a:latin typeface="Arial" panose="020B0604020202020204" pitchFamily="34" charset="0"/>
                <a:cs typeface="Arial" panose="020B0604020202020204" pitchFamily="34" charset="0"/>
              </a:rPr>
              <a:t>conclusions</a:t>
            </a:r>
          </a:p>
        </p:txBody>
      </p:sp>
      <p:sp>
        <p:nvSpPr>
          <p:cNvPr id="22" name="Content Placeholder 21"/>
          <p:cNvSpPr>
            <a:spLocks noGrp="1"/>
          </p:cNvSpPr>
          <p:nvPr>
            <p:ph sz="quarter" idx="35"/>
          </p:nvPr>
        </p:nvSpPr>
        <p:spPr/>
        <p:txBody>
          <a:bodyPr>
            <a:noAutofit/>
          </a:bodyPr>
          <a:lstStyle/>
          <a:p>
            <a:pPr marL="0" lvl="1" indent="0">
              <a:lnSpc>
                <a:spcPts val="4759"/>
              </a:lnSpc>
              <a:spcBef>
                <a:spcPts val="0"/>
              </a:spcBef>
              <a:buNone/>
              <a:defRPr/>
            </a:pPr>
            <a:r>
              <a:rPr lang="en-US" dirty="0">
                <a:latin typeface="Arial" panose="020B0604020202020204" pitchFamily="34" charset="0"/>
                <a:ea typeface="Lato Light"/>
                <a:cs typeface="Arial" panose="020B0604020202020204" pitchFamily="34" charset="0"/>
                <a:sym typeface="Lato Bold"/>
              </a:rPr>
              <a:t>By using various EPA and Win Probability metrics, we can attribute these residuals to coaches to give an estimate of the literal value they add in the form of points and wins to their teams. This information can then be used to not only identify top performing current coaches, but also up and coming assistant coaches that should be targets during a hiring cycle. On their own, these metrics can indicate poor or positive performance from coaches, but when combined can provide a much larger picture about which coaches consistently add value across the board, or could be analyzed further to see specific areas a coach excels or needs to improve.</a:t>
            </a:r>
          </a:p>
        </p:txBody>
      </p:sp>
      <p:sp>
        <p:nvSpPr>
          <p:cNvPr id="26" name="Text Placeholder 22">
            <a:extLst>
              <a:ext uri="{FF2B5EF4-FFF2-40B4-BE49-F238E27FC236}">
                <a16:creationId xmlns:a16="http://schemas.microsoft.com/office/drawing/2014/main" id="{CAC2E4FD-3A36-47D8-3E64-4BD3CDEC3191}"/>
              </a:ext>
            </a:extLst>
          </p:cNvPr>
          <p:cNvSpPr txBox="1">
            <a:spLocks/>
          </p:cNvSpPr>
          <p:nvPr/>
        </p:nvSpPr>
        <p:spPr bwMode="auto">
          <a:xfrm>
            <a:off x="6794066" y="3699064"/>
            <a:ext cx="31089600" cy="830997"/>
          </a:xfrm>
          <a:prstGeom prst="rect">
            <a:avLst/>
          </a:prstGeom>
        </p:spPr>
        <p:txBody>
          <a:bodyPr vert="horz" lIns="91440" tIns="45720" rIns="91440" bIns="45720" rtlCol="0">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2400" kern="1200">
                <a:solidFill>
                  <a:schemeClr val="bg1"/>
                </a:solidFill>
                <a:latin typeface="+mn-lt"/>
                <a:ea typeface="+mn-ea"/>
                <a:cs typeface="+mn-cs"/>
              </a:defRPr>
            </a:lvl9pPr>
          </a:lstStyle>
          <a:p>
            <a:pPr algn="ctr"/>
            <a:r>
              <a:rPr lang="en-US" sz="4400" dirty="0">
                <a:solidFill>
                  <a:srgbClr val="00205B"/>
                </a:solidFill>
                <a:latin typeface="Arial" panose="020B0604020202020204" pitchFamily="34" charset="0"/>
                <a:cs typeface="Arial" panose="020B0604020202020204" pitchFamily="34" charset="0"/>
              </a:rPr>
              <a:t>Department of Sport Management, School of Social Sciences, Rice University</a:t>
            </a:r>
            <a:endParaRPr lang="en-US" dirty="0">
              <a:solidFill>
                <a:srgbClr val="00205B"/>
              </a:solidFill>
              <a:latin typeface="Arial" panose="020B0604020202020204" pitchFamily="34" charset="0"/>
              <a:cs typeface="Arial" panose="020B0604020202020204" pitchFamily="34" charset="0"/>
            </a:endParaRPr>
          </a:p>
        </p:txBody>
      </p:sp>
      <p:pic>
        <p:nvPicPr>
          <p:cNvPr id="1028" name="Picture 4" descr="Sport Analytics logo">
            <a:extLst>
              <a:ext uri="{FF2B5EF4-FFF2-40B4-BE49-F238E27FC236}">
                <a16:creationId xmlns:a16="http://schemas.microsoft.com/office/drawing/2014/main" id="{FC5058BC-372E-3BDE-9C09-B9EEE9B9B5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41" y="1182669"/>
            <a:ext cx="7673287" cy="219456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DC4877D0-ED98-61CB-EE5B-6C2727DB85F5}"/>
              </a:ext>
            </a:extLst>
          </p:cNvPr>
          <p:cNvSpPr txBox="1"/>
          <p:nvPr/>
        </p:nvSpPr>
        <p:spPr>
          <a:xfrm>
            <a:off x="29946600" y="7209761"/>
            <a:ext cx="12801600" cy="830997"/>
          </a:xfrm>
          <a:prstGeom prst="rect">
            <a:avLst/>
          </a:prstGeom>
          <a:noFill/>
        </p:spPr>
        <p:txBody>
          <a:bodyPr wrap="square" rtlCol="0" anchor="ctr">
            <a:spAutoFit/>
          </a:bodyPr>
          <a:lstStyle/>
          <a:p>
            <a:pPr algn="ctr"/>
            <a:r>
              <a:rPr lang="en-US" sz="4800" dirty="0">
                <a:solidFill>
                  <a:srgbClr val="00205B"/>
                </a:solidFill>
                <a:latin typeface="Arial" panose="020B0604020202020204" pitchFamily="34" charset="0"/>
                <a:cs typeface="Arial" panose="020B0604020202020204" pitchFamily="34" charset="0"/>
              </a:rPr>
              <a:t>Top &amp; Bottom Coaches from 2025 Season</a:t>
            </a:r>
          </a:p>
        </p:txBody>
      </p:sp>
      <p:pic>
        <p:nvPicPr>
          <p:cNvPr id="42" name="Picture 41">
            <a:extLst>
              <a:ext uri="{FF2B5EF4-FFF2-40B4-BE49-F238E27FC236}">
                <a16:creationId xmlns:a16="http://schemas.microsoft.com/office/drawing/2014/main" id="{DC8A08FC-489E-4E50-3EAD-37B24E5E7208}"/>
              </a:ext>
            </a:extLst>
          </p:cNvPr>
          <p:cNvPicPr>
            <a:picLocks noChangeAspect="1"/>
          </p:cNvPicPr>
          <p:nvPr/>
        </p:nvPicPr>
        <p:blipFill>
          <a:blip r:embed="rId4">
            <a:extLst>
              <a:ext uri="{28A0092B-C50C-407E-A947-70E740481C1C}">
                <a14:useLocalDpi xmlns:a14="http://schemas.microsoft.com/office/drawing/2010/main" val="0"/>
              </a:ext>
            </a:extLst>
          </a:blip>
          <a:srcRect b="66985"/>
          <a:stretch>
            <a:fillRect/>
          </a:stretch>
        </p:blipFill>
        <p:spPr>
          <a:xfrm>
            <a:off x="29900880" y="7971231"/>
            <a:ext cx="13176718" cy="9153663"/>
          </a:xfrm>
          <a:prstGeom prst="rect">
            <a:avLst/>
          </a:prstGeom>
        </p:spPr>
      </p:pic>
      <p:pic>
        <p:nvPicPr>
          <p:cNvPr id="44" name="Picture 43">
            <a:extLst>
              <a:ext uri="{FF2B5EF4-FFF2-40B4-BE49-F238E27FC236}">
                <a16:creationId xmlns:a16="http://schemas.microsoft.com/office/drawing/2014/main" id="{ED018B6F-A013-2D0B-D9B4-7F5B84811617}"/>
              </a:ext>
            </a:extLst>
          </p:cNvPr>
          <p:cNvPicPr>
            <a:picLocks noChangeAspect="1"/>
          </p:cNvPicPr>
          <p:nvPr/>
        </p:nvPicPr>
        <p:blipFill>
          <a:blip r:embed="rId4">
            <a:extLst>
              <a:ext uri="{28A0092B-C50C-407E-A947-70E740481C1C}">
                <a14:useLocalDpi xmlns:a14="http://schemas.microsoft.com/office/drawing/2010/main" val="0"/>
              </a:ext>
            </a:extLst>
          </a:blip>
          <a:srcRect t="69168"/>
          <a:stretch>
            <a:fillRect/>
          </a:stretch>
        </p:blipFill>
        <p:spPr>
          <a:xfrm>
            <a:off x="29900880" y="17277446"/>
            <a:ext cx="13176717" cy="8548258"/>
          </a:xfrm>
          <a:prstGeom prst="rect">
            <a:avLst/>
          </a:prstGeom>
        </p:spPr>
      </p:pic>
      <p:sp>
        <p:nvSpPr>
          <p:cNvPr id="57" name="Content Placeholder 56">
            <a:extLst>
              <a:ext uri="{FF2B5EF4-FFF2-40B4-BE49-F238E27FC236}">
                <a16:creationId xmlns:a16="http://schemas.microsoft.com/office/drawing/2014/main" id="{1D6AB02A-2719-938F-25ED-0EA6419173C8}"/>
              </a:ext>
            </a:extLst>
          </p:cNvPr>
          <p:cNvSpPr>
            <a:spLocks noGrp="1"/>
          </p:cNvSpPr>
          <p:nvPr>
            <p:ph sz="quarter" idx="28"/>
          </p:nvPr>
        </p:nvSpPr>
        <p:spPr>
          <a:xfrm>
            <a:off x="15511614" y="17476850"/>
            <a:ext cx="12834786" cy="8348854"/>
          </a:xfrm>
        </p:spPr>
        <p:txBody>
          <a:bodyPr>
            <a:normAutofit/>
          </a:bodyPr>
          <a:lstStyle/>
          <a:p>
            <a:pPr marL="0" indent="0">
              <a:buNone/>
            </a:pPr>
            <a:r>
              <a:rPr lang="en-US" sz="2400" dirty="0">
                <a:latin typeface="Arial" panose="020B0604020202020204" pitchFamily="34" charset="0"/>
                <a:cs typeface="Arial" panose="020B0604020202020204" pitchFamily="34" charset="0"/>
              </a:rPr>
              <a:t>Arguably the most important part of a coach’s job is their ability to maximize the talent they possess. The player development metric quantifies a coach’s specific ability to make players overperform their expected value. </a:t>
            </a:r>
          </a:p>
          <a:p>
            <a:pPr marL="0" indent="0">
              <a:buNone/>
            </a:pPr>
            <a:r>
              <a:rPr lang="en-US" sz="2400" dirty="0">
                <a:latin typeface="Arial" panose="020B0604020202020204" pitchFamily="34" charset="0"/>
                <a:cs typeface="Arial" panose="020B0604020202020204" pitchFamily="34" charset="0"/>
              </a:rPr>
              <a:t>This analysis utilizes a Hierarchical Bayesian Adjusted Plus-Minus (APM) model, where the outcome of every play is measured using Expected Points Added (EPA). </a:t>
            </a:r>
          </a:p>
          <a:p>
            <a:pPr marL="0" indent="0">
              <a:buNone/>
            </a:pPr>
            <a:r>
              <a:rPr lang="en-US" sz="2400" dirty="0">
                <a:latin typeface="Arial" panose="020B0604020202020204" pitchFamily="34" charset="0"/>
                <a:cs typeface="Arial" panose="020B0604020202020204" pitchFamily="34" charset="0"/>
              </a:rPr>
              <a:t>By treating each play as an observation of 22 simultaneous players, the model estimates an individual’s true impact while isolating it from teammate-related and opponent-related noise. The Bayesian framework is essential because it applies "shrinkage" to handle backups with limited data, ensuring their scores are not over-evaluated compared to high-snap starters. </a:t>
            </a:r>
          </a:p>
          <a:p>
            <a:pPr marL="0" indent="0">
              <a:buNone/>
            </a:pPr>
            <a:r>
              <a:rPr lang="en-US" sz="2400" dirty="0">
                <a:latin typeface="Arial" panose="020B0604020202020204" pitchFamily="34" charset="0"/>
                <a:cs typeface="Arial" panose="020B0604020202020204" pitchFamily="34" charset="0"/>
              </a:rPr>
              <a:t>Player development is formally defined as the deviation between Observed APM and Expected APM, with the latter predicted via a regression of prior performance, age, experience, volume, and draft position. When a roster exhibits systemic overperformance, the model attributes this success to high coaching quality. </a:t>
            </a:r>
          </a:p>
          <a:p>
            <a:pPr marL="0" indent="0">
              <a:buNone/>
            </a:pPr>
            <a:r>
              <a:rPr lang="en-US" sz="2400" dirty="0">
                <a:latin typeface="Arial" panose="020B0604020202020204" pitchFamily="34" charset="0"/>
                <a:cs typeface="Arial" panose="020B0604020202020204" pitchFamily="34" charset="0"/>
              </a:rPr>
              <a:t>This approach separates talent into offense and defense, and attributes both a defensive development and offensive development score to coaches (one point each) as well as a total score (one point). Combined with the 6 prior points, we have a 9-point scale for coaches.</a:t>
            </a:r>
          </a:p>
          <a:p>
            <a:pPr marL="0" indent="0">
              <a:buNone/>
            </a:pPr>
            <a:endParaRPr lang="en-US" sz="2400" dirty="0">
              <a:latin typeface="Arial" panose="020B0604020202020204" pitchFamily="34" charset="0"/>
              <a:cs typeface="Arial" panose="020B0604020202020204" pitchFamily="34" charset="0"/>
            </a:endParaRPr>
          </a:p>
        </p:txBody>
      </p:sp>
      <p:sp>
        <p:nvSpPr>
          <p:cNvPr id="58" name="Content Placeholder 16">
            <a:extLst>
              <a:ext uri="{FF2B5EF4-FFF2-40B4-BE49-F238E27FC236}">
                <a16:creationId xmlns:a16="http://schemas.microsoft.com/office/drawing/2014/main" id="{632BDFA5-6D16-B7E4-A81F-5D858A458900}"/>
              </a:ext>
            </a:extLst>
          </p:cNvPr>
          <p:cNvSpPr txBox="1">
            <a:spLocks/>
          </p:cNvSpPr>
          <p:nvPr/>
        </p:nvSpPr>
        <p:spPr>
          <a:xfrm>
            <a:off x="21945600" y="26190945"/>
            <a:ext cx="6949440" cy="4572000"/>
          </a:xfrm>
          <a:prstGeom prst="rect">
            <a:avLst/>
          </a:prstGeom>
        </p:spPr>
        <p:txBody>
          <a:bodyPr vert="horz" lIns="365760" tIns="182880" rIns="91440" bIns="45720" rtlCol="0">
            <a:normAutofit fontScale="55000" lnSpcReduction="20000"/>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367024" lvl="1" indent="0" defTabSz="914400">
              <a:lnSpc>
                <a:spcPct val="120000"/>
              </a:lnSpc>
              <a:spcBef>
                <a:spcPts val="0"/>
              </a:spcBef>
              <a:buClrTx/>
              <a:buFont typeface="Arial" panose="020B0604020202020204" pitchFamily="34" charset="0"/>
              <a:buNone/>
              <a:defRPr/>
            </a:pPr>
            <a:r>
              <a:rPr lang="en-US" sz="4400" b="1" dirty="0">
                <a:solidFill>
                  <a:srgbClr val="00205B"/>
                </a:solidFill>
                <a:latin typeface="Arial" panose="020B0604020202020204" pitchFamily="34" charset="0"/>
                <a:ea typeface="Lato Bold"/>
                <a:cs typeface="Arial" panose="020B0604020202020204" pitchFamily="34" charset="0"/>
                <a:sym typeface="Lato Bold"/>
              </a:rPr>
              <a:t>Other Prominent Candidates: </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Sean McDermott (5.96)</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Doug Pederson (4.59)</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Pete Carroll (4.45)</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Mike McDaniel (4.29)</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Mike Zimmer (4.24)</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Eric </a:t>
            </a:r>
            <a:r>
              <a:rPr lang="en-US" sz="4400" b="1" dirty="0" err="1">
                <a:solidFill>
                  <a:srgbClr val="00205B"/>
                </a:solidFill>
                <a:latin typeface="Arial" panose="020B0604020202020204" pitchFamily="34" charset="0"/>
                <a:ea typeface="Lato Light"/>
                <a:cs typeface="Arial" panose="020B0604020202020204" pitchFamily="34" charset="0"/>
                <a:sym typeface="Lato Bold"/>
              </a:rPr>
              <a:t>Bieniemy</a:t>
            </a:r>
            <a:r>
              <a:rPr lang="en-US" sz="4400" b="1" dirty="0">
                <a:solidFill>
                  <a:srgbClr val="00205B"/>
                </a:solidFill>
                <a:latin typeface="Arial" panose="020B0604020202020204" pitchFamily="34" charset="0"/>
                <a:ea typeface="Lato Light"/>
                <a:cs typeface="Arial" panose="020B0604020202020204" pitchFamily="34" charset="0"/>
                <a:sym typeface="Lato Bold"/>
              </a:rPr>
              <a:t>; 3.14</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Greg Roman; 2.9</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Pete Carmichael; 2.78</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George Edwards; 2.8</a:t>
            </a:r>
          </a:p>
          <a:p>
            <a:pPr marL="824224" lvl="1">
              <a:lnSpc>
                <a:spcPct val="120000"/>
              </a:lnSpc>
              <a:spcBef>
                <a:spcPts val="0"/>
              </a:spcBef>
              <a:defRPr/>
            </a:pPr>
            <a:r>
              <a:rPr lang="en-US" sz="4400" b="1" dirty="0">
                <a:solidFill>
                  <a:srgbClr val="00205B"/>
                </a:solidFill>
                <a:latin typeface="Arial" panose="020B0604020202020204" pitchFamily="34" charset="0"/>
                <a:ea typeface="Lato Light"/>
                <a:cs typeface="Arial" panose="020B0604020202020204" pitchFamily="34" charset="0"/>
                <a:sym typeface="Lato Bold"/>
              </a:rPr>
              <a:t>Joe Lombardi; 2.51</a:t>
            </a:r>
          </a:p>
          <a:p>
            <a:pPr marL="367024" lvl="1" indent="0" defTabSz="914400">
              <a:lnSpc>
                <a:spcPct val="120000"/>
              </a:lnSpc>
              <a:spcBef>
                <a:spcPts val="0"/>
              </a:spcBef>
              <a:buClrTx/>
              <a:buFont typeface="Arial" panose="020B0604020202020204" pitchFamily="34" charset="0"/>
              <a:buNone/>
              <a:defRPr/>
            </a:pPr>
            <a:endParaRPr lang="en-US" sz="4400" b="1" dirty="0">
              <a:solidFill>
                <a:srgbClr val="00205B"/>
              </a:solidFill>
              <a:latin typeface="Lato Bold"/>
              <a:ea typeface="Lato Bold"/>
              <a:cs typeface="Lato Bold"/>
              <a:sym typeface="Lato Bold"/>
            </a:endParaRPr>
          </a:p>
        </p:txBody>
      </p:sp>
      <p:pic>
        <p:nvPicPr>
          <p:cNvPr id="1024" name="Picture 11">
            <a:extLst>
              <a:ext uri="{FF2B5EF4-FFF2-40B4-BE49-F238E27FC236}">
                <a16:creationId xmlns:a16="http://schemas.microsoft.com/office/drawing/2014/main" id="{E60FA78B-F338-7D2E-4261-8234DD8AE573}"/>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51639"/>
          <a:stretch>
            <a:fillRect/>
          </a:stretch>
        </p:blipFill>
        <p:spPr bwMode="auto">
          <a:xfrm>
            <a:off x="8645964" y="22733353"/>
            <a:ext cx="4446645" cy="21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11">
            <a:extLst>
              <a:ext uri="{FF2B5EF4-FFF2-40B4-BE49-F238E27FC236}">
                <a16:creationId xmlns:a16="http://schemas.microsoft.com/office/drawing/2014/main" id="{C7FD283F-471A-5839-CB39-000395879DC3}"/>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49793"/>
          <a:stretch>
            <a:fillRect/>
          </a:stretch>
        </p:blipFill>
        <p:spPr bwMode="auto">
          <a:xfrm>
            <a:off x="8645964" y="20223928"/>
            <a:ext cx="4446645" cy="2232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Content Placeholder 11">
            <a:extLst>
              <a:ext uri="{FF2B5EF4-FFF2-40B4-BE49-F238E27FC236}">
                <a16:creationId xmlns:a16="http://schemas.microsoft.com/office/drawing/2014/main" id="{52457F66-CB71-7797-202B-98AF060F519E}"/>
              </a:ext>
            </a:extLst>
          </p:cNvPr>
          <p:cNvSpPr txBox="1">
            <a:spLocks/>
          </p:cNvSpPr>
          <p:nvPr/>
        </p:nvSpPr>
        <p:spPr>
          <a:xfrm>
            <a:off x="1188720" y="21126807"/>
            <a:ext cx="12801600" cy="4762639"/>
          </a:xfrm>
          <a:prstGeom prst="rect">
            <a:avLst/>
          </a:prstGeom>
        </p:spPr>
        <p:txBody>
          <a:bodyPr vert="horz" lIns="365760" tIns="182880" rIns="91440" bIns="45720" rtlCol="0">
            <a:norm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
        <p:nvSpPr>
          <p:cNvPr id="1029" name="Content Placeholder 47">
            <a:extLst>
              <a:ext uri="{FF2B5EF4-FFF2-40B4-BE49-F238E27FC236}">
                <a16:creationId xmlns:a16="http://schemas.microsoft.com/office/drawing/2014/main" id="{52C67B54-1B68-633D-70D2-297944CF9B55}"/>
              </a:ext>
            </a:extLst>
          </p:cNvPr>
          <p:cNvSpPr txBox="1">
            <a:spLocks/>
          </p:cNvSpPr>
          <p:nvPr/>
        </p:nvSpPr>
        <p:spPr>
          <a:xfrm>
            <a:off x="1143000" y="20299679"/>
            <a:ext cx="6987575" cy="5958727"/>
          </a:xfrm>
          <a:prstGeom prst="rect">
            <a:avLst/>
          </a:prstGeom>
        </p:spPr>
        <p:txBody>
          <a:bodyPr vert="horz" lIns="365760" tIns="182880" rIns="91440" bIns="45720" rtlCol="0">
            <a:norm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0" indent="0">
              <a:buNone/>
            </a:pPr>
            <a:r>
              <a:rPr lang="en-US" sz="2400" dirty="0">
                <a:latin typeface="Arial" panose="020B0604020202020204" pitchFamily="34" charset="0"/>
                <a:cs typeface="Arial" panose="020B0604020202020204" pitchFamily="34" charset="0"/>
              </a:rPr>
              <a:t>In the most recent 2025 NFL Season, three of the championship-contending head coaches were in their first three seasons with their new team. Mike Vrabel (Patriots) is in hist first year with the club, ultimately contending for a Super Bowl. Sean Paytin (Broncos) is in year 3, contending for an AFC Championship. Mike Macdonald (Seahawks) is in year 2 and won the Super Bowl in his first ever stint as a head coach. Sean McVay (Rams) is in his 9</a:t>
            </a:r>
            <a:r>
              <a:rPr lang="en-US" sz="2400" baseline="30000" dirty="0">
                <a:latin typeface="Arial" panose="020B0604020202020204" pitchFamily="34" charset="0"/>
                <a:cs typeface="Arial" panose="020B0604020202020204" pitchFamily="34" charset="0"/>
              </a:rPr>
              <a:t>th</a:t>
            </a:r>
            <a:r>
              <a:rPr lang="en-US" sz="2400" dirty="0">
                <a:latin typeface="Arial" panose="020B0604020202020204" pitchFamily="34" charset="0"/>
                <a:cs typeface="Arial" panose="020B0604020202020204" pitchFamily="34" charset="0"/>
              </a:rPr>
              <a:t> year with the club, but is still the fourth youngest coach in the league. </a:t>
            </a:r>
          </a:p>
          <a:p>
            <a:endParaRPr lang="en-US" dirty="0"/>
          </a:p>
        </p:txBody>
      </p:sp>
      <p:sp>
        <p:nvSpPr>
          <p:cNvPr id="1030" name="Content Placeholder 11">
            <a:extLst>
              <a:ext uri="{FF2B5EF4-FFF2-40B4-BE49-F238E27FC236}">
                <a16:creationId xmlns:a16="http://schemas.microsoft.com/office/drawing/2014/main" id="{672150C8-9CDC-5AD8-1A0C-672CBDB02B5F}"/>
              </a:ext>
            </a:extLst>
          </p:cNvPr>
          <p:cNvSpPr txBox="1">
            <a:spLocks/>
          </p:cNvSpPr>
          <p:nvPr/>
        </p:nvSpPr>
        <p:spPr>
          <a:xfrm>
            <a:off x="1143000" y="25165683"/>
            <a:ext cx="12801600" cy="6463413"/>
          </a:xfrm>
          <a:prstGeom prst="rect">
            <a:avLst/>
          </a:prstGeom>
        </p:spPr>
        <p:txBody>
          <a:bodyPr vert="horz" lIns="365760" tIns="182880" rIns="91440" bIns="45720" rtlCol="0">
            <a:norm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r>
              <a:rPr lang="en-US" sz="2400" b="1" dirty="0">
                <a:latin typeface="Arial" panose="020B0604020202020204" pitchFamily="34" charset="0"/>
                <a:cs typeface="Arial" panose="020B0604020202020204" pitchFamily="34" charset="0"/>
              </a:rPr>
              <a:t>10 NFL Teams had a Head Coaching vacancy after the 2025 season.</a:t>
            </a:r>
          </a:p>
          <a:p>
            <a:pPr marL="0" indent="0">
              <a:buNone/>
            </a:pPr>
            <a:r>
              <a:rPr lang="en-US" sz="2400" dirty="0">
                <a:latin typeface="Arial" panose="020B0604020202020204" pitchFamily="34" charset="0"/>
                <a:cs typeface="Arial" panose="020B0604020202020204" pitchFamily="34" charset="0"/>
              </a:rPr>
              <a:t>The Bills, Cardinals, Falcons, Ravens, Browns, Raiders, Dolphins, Giants, Steelers, and Titans all were looking for the best option to lead their team in a new direction. </a:t>
            </a:r>
          </a:p>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b="1" dirty="0">
                <a:latin typeface="Arial" panose="020B0604020202020204" pitchFamily="34" charset="0"/>
                <a:cs typeface="Arial" panose="020B0604020202020204" pitchFamily="34" charset="0"/>
              </a:rPr>
              <a:t>So how do coaches add value?</a:t>
            </a:r>
          </a:p>
          <a:p>
            <a:pPr marL="0" indent="0">
              <a:buNone/>
            </a:pPr>
            <a:r>
              <a:rPr lang="en-US" sz="2400" dirty="0">
                <a:latin typeface="Arial" panose="020B0604020202020204" pitchFamily="34" charset="0"/>
                <a:cs typeface="Arial" panose="020B0604020202020204" pitchFamily="34" charset="0"/>
              </a:rPr>
              <a:t>In a lot of ways. This study will derive their scores from several independent performance categories, such as decision-making in high-leverage situations (two-minute, fourth downs, close games), raw success (regular season, divisional games, playoffs), and player development. For some of these categories, value is added through win percentage over expected, and for others value is added through points added over expected. In order to make a standardized score for all coaches, their scores will reflect their ability to add value relative to other coaches that season, as opposed to being a raw reflection of total value added, since there is no clear way to translate points to wins and vice versa. </a:t>
            </a:r>
            <a:endParaRPr lang="en-US"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1031" name="Picture 6">
            <a:extLst>
              <a:ext uri="{FF2B5EF4-FFF2-40B4-BE49-F238E27FC236}">
                <a16:creationId xmlns:a16="http://schemas.microsoft.com/office/drawing/2014/main" id="{370F7C82-4FE6-10DE-8E98-1F809A49B14B}"/>
              </a:ext>
            </a:extLst>
          </p:cNvPr>
          <p:cNvPicPr>
            <a:picLocks noGrp="1" noChangeAspect="1" noChangeArrowheads="1"/>
          </p:cNvPicPr>
          <p:nvPr>
            <p:ph sz="quarter" idx="23"/>
          </p:nvPr>
        </p:nvPicPr>
        <p:blipFill>
          <a:blip r:embed="rId6">
            <a:extLst>
              <a:ext uri="{28A0092B-C50C-407E-A947-70E740481C1C}">
                <a14:useLocalDpi xmlns:a14="http://schemas.microsoft.com/office/drawing/2010/main" val="0"/>
              </a:ext>
            </a:extLst>
          </a:blip>
          <a:srcRect/>
          <a:stretch/>
        </p:blipFill>
        <p:spPr bwMode="auto">
          <a:xfrm>
            <a:off x="20817657" y="7351167"/>
            <a:ext cx="7953285" cy="4914871"/>
          </a:xfrm>
          <a:prstGeom prst="rect">
            <a:avLst/>
          </a:prstGeom>
          <a:noFill/>
          <a:extLst>
            <a:ext uri="{909E8E84-426E-40DD-AFC4-6F175D3DCCD1}">
              <a14:hiddenFill xmlns:a14="http://schemas.microsoft.com/office/drawing/2010/main">
                <a:solidFill>
                  <a:srgbClr val="FFFFFF"/>
                </a:solidFill>
              </a14:hiddenFill>
            </a:ext>
          </a:extLst>
        </p:spPr>
      </p:pic>
      <p:sp>
        <p:nvSpPr>
          <p:cNvPr id="1036" name="AutoShape 14">
            <a:extLst>
              <a:ext uri="{FF2B5EF4-FFF2-40B4-BE49-F238E27FC236}">
                <a16:creationId xmlns:a16="http://schemas.microsoft.com/office/drawing/2014/main" id="{1D8E6C24-2F61-5BB9-9834-DF35B55DEECD}"/>
              </a:ext>
            </a:extLst>
          </p:cNvPr>
          <p:cNvSpPr>
            <a:spLocks noChangeAspect="1" noChangeArrowheads="1"/>
          </p:cNvSpPr>
          <p:nvPr/>
        </p:nvSpPr>
        <p:spPr bwMode="auto">
          <a:xfrm>
            <a:off x="21793200" y="16306800"/>
            <a:ext cx="5688676" cy="56886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7" name="Picture 6">
            <a:extLst>
              <a:ext uri="{FF2B5EF4-FFF2-40B4-BE49-F238E27FC236}">
                <a16:creationId xmlns:a16="http://schemas.microsoft.com/office/drawing/2014/main" id="{EBCA48C7-BF51-829A-3700-BD1A58CEFA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20817657" y="12290004"/>
            <a:ext cx="7953287" cy="4914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Medical Poster">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1" id="{55A68E73-61CB-4542-8C48-DCBB2482A3D5}" vid="{6A3CA63D-1E3C-4681-8668-89277FEB3FEB}"/>
    </a:ext>
  </a:extLst>
</a:theme>
</file>

<file path=ppt/theme/theme2.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161</TotalTime>
  <Words>1390</Words>
  <Application>Microsoft Office PowerPoint</Application>
  <PresentationFormat>Custom</PresentationFormat>
  <Paragraphs>62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Lato Bold</vt:lpstr>
      <vt:lpstr>Medical Poster</vt:lpstr>
      <vt:lpstr>Coaching Value in the NFL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Title] Lorem ipsum dolor sit amet, consectetuer adipiscing elit maecenas porttitor congue massa fusce</dc:title>
  <dc:creator>Will Kinnebrew</dc:creator>
  <cp:lastModifiedBy>Will Kinnebrew</cp:lastModifiedBy>
  <cp:revision>22</cp:revision>
  <dcterms:created xsi:type="dcterms:W3CDTF">2013-12-03T00:45:10Z</dcterms:created>
  <dcterms:modified xsi:type="dcterms:W3CDTF">2026-04-16T17:16:45Z</dcterms:modified>
</cp:coreProperties>
</file>